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베트남 음식 문화의 정체성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불과 쌈의 조화로운 조리 원칙</a:t>
            </a:r>
          </a:p>
          <a:p>
            <a:r>
              <a:t>- 모든 식재료를 굽고 삶고 끓이고 볶는 등 반드시 불을 사용하여 따뜻하게 조리하여 섭취하는 기본 원칙 고수,</a:t>
            </a:r>
          </a:p>
          <a:p>
            <a:r>
              <a:t>- 고온다습한 기후의 영향으로 가공되지 않은 채소를 제외하고는 말린 식재료를 그대로 먹지 않고 반드시 재가공 과정을 거치는 특징 보유</a:t>
            </a:r>
          </a:p>
          <a:p>
            <a:r>
              <a:t>- 쌀을 주원료로 하는 퍼(쌀국수), 미엔(당면), 미(노란 국수) 등 국수의 종류가 매우 다양하여 기호에 맞는 선택 가능</a:t>
            </a:r>
          </a:p>
          <a:p>
            <a:r>
              <a:t>- 신선한 각종 채소와 육류를 라이스 페이퍼 등에 함께 넣어 싸 먹는 풍성한 쌈 문화가 독자적으로 발달함</a:t>
            </a:r>
          </a:p>
          <a:p>
            <a:r>
              <a:t>- 지형적 특성과 지역별 식재료의 분포에 따라 요리의 형태가 매우 다채롭게 나타나며 이는 베트남 문화의 다양성을 상징함,</a:t>
            </a:r>
          </a:p>
          <a:p>
            <a:r>
              <a:t>**표 1: 베트남 음식의 기본 조리 개념**</a:t>
            </a:r>
          </a:p>
          <a:p>
            <a:r>
              <a:t>| 구분 | 주요 특징 | 비고 |</a:t>
            </a:r>
            <a:br/>
            <a:r>
              <a:t>| :--- | :--- | :--- |</a:t>
            </a:r>
            <a:br/>
            <a:r>
              <a:t>| **조리 방식** | 반드시 불을 사용함 (Heat) | 소화 및 위생 강조 |</a:t>
            </a:r>
            <a:br/>
            <a:r>
              <a:t>| **주식 형태** | 다양한 국수 및 쌀 기반 요리 | 퍼, 미엔, 미 등 |</a:t>
            </a:r>
            <a:br/>
            <a:r>
              <a:t>| **식사 방식** | 신선한 채소 중심의 쌈 문화 | 건강식 이미지 구축 |</a:t>
            </a:r>
          </a:p>
          <a:p>
            <a:r>
              <a:t>::: notes</a:t>
            </a:r>
            <a:br/>
            <a:r>
              <a:t>베트남 음식의 가장 큰 특징은 바로 '따뜻함'과 '신선함'의 공존입니다. 열대 기후의 특성상 위생을 위해 모든 재료를 불로 익혀 먹는 것을 원칙으로 하며, 동시에 풍부한 채소를 활용한 쌈 요리로 영양 균형을 맞춥니다.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설날 전통 음식의 상징성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반쯩과 반자이에 담긴 음양 철학</a:t>
            </a:r>
          </a:p>
          <a:p>
            <a:r>
              <a:t>- 베트남 최대 명절인 '텟'을 상징하는 음식으로 찹쌀, 녹두, 돼지고기를 바나나 잎에 싸서 6시간 이상 삶아 제작함</a:t>
            </a:r>
          </a:p>
          <a:p>
            <a:r>
              <a:t>- 사각형 형태의 '반쯩'은 음(-)과 지구를 상징하며 녹두는 식물, 돼지고기는 동물을 의미하여 풍요와 번성을 기원함</a:t>
            </a:r>
          </a:p>
          <a:p>
            <a:r>
              <a:t>- 흰색 원형의 '반자이'는 양(+)과 하늘을 상징하며 두 음식의 조화는 베트남 특유의 깊은 음양 철학을 반영함</a:t>
            </a:r>
          </a:p>
          <a:p>
            <a:r>
              <a:t>- 반랑 왕국 흥왕의 아들이 쌀의 소중함과 부모의 은혜를 담아 신의 계시로 만들었다는 건국 설화에서 유래함</a:t>
            </a:r>
          </a:p>
          <a:p>
            <a:r>
              <a:t>- 냉장 시설이 없던 과거에도 실온에서 장기 보관이 가능하도록 고안된 지혜로운 음식으로 부엌의 평화를 상징함</a:t>
            </a:r>
          </a:p>
          <a:p>
            <a:r>
              <a:t>**[상징 체계 인포그래픽]**</a:t>
            </a:r>
            <a:br/>
            <a:r>
              <a:t>- 반쯩 (Bánh Chưng): [사각형] -&gt; [지구/음(-)] -&gt; [식물+동물 결합]</a:t>
            </a:r>
            <a:br/>
            <a:r>
              <a:t>- 반자이 (Bánh Giầy): [원형] -&gt; [하늘/양(+)] -&gt; [쌀의 고귀함]</a:t>
            </a:r>
          </a:p>
          <a:p>
            <a:r>
              <a:t>::: notes</a:t>
            </a:r>
            <a:br/>
            <a:r>
              <a:t>반쯩과 반자이는 단순한 명절 음식을 넘어 베트남의 우주관을 담고 있습니다. 땅(사각형)과 하늘(원형)을 음식으로 표현하여 조상에 대한 공경과 만물의 조화를 기원하는 마음이 담겨 있습니다.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베트남의 영혼 쌀국수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지역별 육수와 면의 조리 특징</a:t>
            </a:r>
          </a:p>
          <a:p>
            <a:r>
              <a:t>- 쌀국수 '퍼'는 쌀을 불려 얇게 편 뒤 말려서 자른 면을 사용하며 닭, 돼지, 소고기 육수를 취향에 따라 선택함</a:t>
            </a:r>
          </a:p>
          <a:p>
            <a:r>
              <a:t>- 소고기 육수를 사용하는 '퍼보'는 주로 베트남 북부 하노이 지역에서 발달한 전통적인 형태의 쌀국수에 해당함</a:t>
            </a:r>
          </a:p>
          <a:p>
            <a:r>
              <a:t>- 닭 국물을 베이스로 하는 '퍼가'는 남부 지역에서 보편적이며 다른 동남아 국가들과 유사한 맛의 특징을 보유함</a:t>
            </a:r>
          </a:p>
          <a:p>
            <a:r>
              <a:t>- 국수를 그릇째 마시지 않고 작은 접시에 덜어 고추, 라임, 숙주 등 다양한 식재료를 직접 버무려 먹는 것이 정석임</a:t>
            </a:r>
          </a:p>
          <a:p>
            <a:r>
              <a:t>- 쌀국수의 기원을 두고 1,000년 이상의 전통이라는 학설과 프랑스 식민 시절 유입된 근대 요리라는 학설이 대립함,</a:t>
            </a:r>
          </a:p>
          <a:p>
            <a:r>
              <a:t>**표 2: 주재료에 따른 쌀국수 종류**</a:t>
            </a:r>
          </a:p>
          <a:p>
            <a:r>
              <a:t>| 종류 | 주재료 | 주요 특징 | 대표 지역 |</a:t>
            </a:r>
            <a:br/>
            <a:r>
              <a:t>| :--- | :--- | :--- | :--- |</a:t>
            </a:r>
            <a:br/>
            <a:r>
              <a:t>| **퍼보 (Phở Bò)** | 소고기 | 깊고 진한 육수의 맛 | 북부 하노이 |</a:t>
            </a:r>
            <a:br/>
            <a:r>
              <a:t>| **퍼가 (Ph혹 Gà)** | 닭고기 | 담백하고 깔끔한 풍미 | 남부 호찌민 |</a:t>
            </a:r>
            <a:br/>
            <a:r>
              <a:t>| **퍼빗 (Phở Vịt)** | 오리고기 | 독특한 고기 고명 활용 | 특정 지역 명물 |</a:t>
            </a:r>
          </a:p>
          <a:p>
            <a:r>
              <a:t>::: notes</a:t>
            </a:r>
            <a:br/>
            <a:r>
              <a:t>베트남 쌀국수는 지역에 따라 육수와 먹는 방식이 조금씩 다릅니다. 특히 하노이의 소고기 쌀국수는 역사적 논쟁이 있을 정도로 깊은 전통을 자랑하며, 현지인들은 라임과 고추를 넣어 본인만의 맛을 완성해 즐깁니다.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일상 식문화와 바게트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껌판과 반미의 대중적 확산</a:t>
            </a:r>
          </a:p>
          <a:p>
            <a:r>
              <a:t>- 한국의 백반과 유사한 '껌판'은 흰 쌀밥에 생선조림, 계란, 채소, 국 등을 곁들여 먹는 가장 보편적인 식사 형태임</a:t>
            </a:r>
          </a:p>
          <a:p>
            <a:r>
              <a:t>- 숯불 갈비구이를 올린 껌스언느엉이나 닭고기를 곁들인 껌가 등 덮밥류는 바쁜 현대인들에게 인기 있는 메뉴임,</a:t>
            </a:r>
          </a:p>
          <a:p>
            <a:r>
              <a:t>- '반미'는 프랑스 식민 시절의 영향으로 탄생한 바게트 샌드위치로 햄, 채소, 오이 피클 등을 넣어 동서양의 조화를 이룸,</a:t>
            </a:r>
          </a:p>
          <a:p>
            <a:r>
              <a:t>- 라오스나 캄보디아에서도 보편적으로 소비되는 반미는 프랑스 문화가 현지에 정착하여 독자적으로 발전한 사례임</a:t>
            </a:r>
          </a:p>
          <a:p>
            <a:r>
              <a:t>- 기름에 튀겨 먹는 짜조(넴)와 달리 물에 적신 생 라이스 페이퍼를 활용한 고이꾸온은 신선함을 극대화한 요리임</a:t>
            </a:r>
          </a:p>
          <a:p>
            <a:r>
              <a:t>**실무 예시: 메뉴판 읽는 법**</a:t>
            </a:r>
            <a:br/>
            <a:r>
              <a:t>- 껌(Cơm) + 재료명 = 덮밥 (예: 껌가 - 닭고기 덮밥)</a:t>
            </a:r>
            <a:br/>
            <a:r>
              <a:t>- 분(Bún) + 재료명 = 국수 (예: 분보 - 소고기 국수)</a:t>
            </a:r>
            <a:br/>
            <a:r>
              <a:t>- 조리법(Nướng) = 구이 (예: 껌스언느엉 - 갈비구이 덮밥)</a:t>
            </a:r>
          </a:p>
          <a:p>
            <a:r>
              <a:t>::: notes</a:t>
            </a:r>
            <a:br/>
            <a:r>
              <a:t>베트남의 식단은 쌀밥 중심의 '껌판'과 프랑스식 빵인 '반미'로 양분됩니다. 특히 반미는 식민 역사의 산물이지만 이제는 전 세계적으로 사랑받는 베트남의 대표적인 스트리트 푸드로 자리 잡았습니다.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육류와 수산물의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단백질 보충을 위한 식문화의 지혜</a:t>
            </a:r>
          </a:p>
          <a:p>
            <a:r>
              <a:t>- 전통 농경 사회의 영향으로 노동력인 소를 귀하게 여겨 육류 섭취를 자제하고 마을 행사 시에만 소량 소비함</a:t>
            </a:r>
          </a:p>
          <a:p>
            <a:r>
              <a:t>- 기업형 축산업의 발달 이후 돼지, 닭, 오리 등의 사육이 증가하였으나 소고기는 여전히 물소 위주라 육질이 거친 편임</a:t>
            </a:r>
          </a:p>
          <a:p>
            <a:r>
              <a:t>- 고산 지대인 달랏 지역에서 사육되는 소는 품질이 우수하여 베트남 내에서 식용으로 널리 인정받고 있음</a:t>
            </a:r>
          </a:p>
          <a:p>
            <a:r>
              <a:t>- 단백질 보충을 위해 특별한 기념일에 개고기를 수육 형태로 대접하거나 각종 곤충 및 벌레 요리를 섭취함,</a:t>
            </a:r>
          </a:p>
          <a:p>
            <a:r>
              <a:t>- 3,260km의 긴 해안선과 수많은 강을 보유한 수산 대국으로 연간 20만 톤 이상의 풍부한 수산물을 생산함,</a:t>
            </a:r>
          </a:p>
          <a:p>
            <a:r>
              <a:t>**표 3: 베트남 육류 소비 특징**</a:t>
            </a:r>
          </a:p>
          <a:p>
            <a:r>
              <a:t>| 종류 | 주요 특징 | 문화적 배경 |</a:t>
            </a:r>
            <a:br/>
            <a:r>
              <a:t>| :--- | :--- | :--- |</a:t>
            </a:r>
            <a:br/>
            <a:r>
              <a:t>| **소고기** | 물소 위주, 질긴 육질 | 농경 사회, 노동력 중시 |</a:t>
            </a:r>
            <a:br/>
            <a:r>
              <a:t>| **돼지/닭** | 대량 사육을 통한 대중화 | 기업형 축산업 발달 |</a:t>
            </a:r>
            <a:br/>
            <a:r>
              <a:t>| **개고기** | 수육 형태의 기념일 요리 | 특별한 날의 대접 음식 |</a:t>
            </a:r>
            <a:br/>
            <a:r>
              <a:t>| **민물고기** | 해산물보다 높은 선호도 | 강 중심의 생활권 형성 |</a:t>
            </a:r>
          </a:p>
          <a:p>
            <a:r>
              <a:t>::: notes</a:t>
            </a:r>
            <a:br/>
            <a:r>
              <a:t>베트남은 풍부한 강과 바다 덕분에 수산물이 매우 풍부합니다. 육류의 경우 과거에는 섭취가 제한적이었으나 현재는 매우 다양해졌으며, 특히 해산물보다 민물고기를 더 선호하는 독특한 입맛을 가지고 있습니다.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차와 커피의 예술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연유와 곡물이 결합된 디저트 문화</a:t>
            </a:r>
          </a:p>
          <a:p>
            <a:r>
              <a:t>- 프랑스 영향으로 농도가 짙은 커피를 선호하며 설탕 대신 연유를 넣어 쓴맛을 중화시키는 독자적 레시피 발달,</a:t>
            </a:r>
          </a:p>
          <a:p>
            <a:r>
              <a:t>- 세계적인 커피 생산국으로서 길거리 어디서나 낮은 의자에 앉아 커피를 즐기는 특유의 카페 문화가 형성됨</a:t>
            </a:r>
          </a:p>
          <a:p>
            <a:r>
              <a:t>- 람동 지역의 녹차나 고급 차인 타이구엔 등 차 문화가 발달하여 식사 후나 손님 접대 시 필수적으로 제공함</a:t>
            </a:r>
          </a:p>
          <a:p>
            <a:r>
              <a:t>- '쩨(Chè)'는 단팥, 콩, 쌀 등 각종 곡물을 듬뿍 넣어 만든 달콤한 음료이자 디저트로 학생들에게 인기가 높음</a:t>
            </a:r>
          </a:p>
          <a:p>
            <a:r>
              <a:t>- 커피에 연유를 넣는 방식은 유제품 보관이 어렵고 쓴맛이 강한 로부스타 원두를 주로 사용하는 환경적 요인이 반영됨</a:t>
            </a:r>
          </a:p>
          <a:p>
            <a:r>
              <a:t>**실무 예시: 베트남 카페 주문하기**</a:t>
            </a:r>
            <a:br/>
            <a:r>
              <a:t>- 카페 쓰아 다 (Cà phê sữa đá): 연유를 넣은 아이스 커피</a:t>
            </a:r>
            <a:br/>
            <a:r>
              <a:t>- 카페 다 (Cà phê đá): 설탕을 넣은 블랙 아이스 커피</a:t>
            </a:r>
            <a:br/>
            <a:r>
              <a:t>- 쓰아 (Sữa) = 연유 / 다 (Đá) = 얼음</a:t>
            </a:r>
          </a:p>
          <a:p>
            <a:r>
              <a:t>::: notes</a:t>
            </a:r>
            <a:br/>
            <a:r>
              <a:t>베트남인들의 커피 사랑은 유별납니다. 연유를 듬뿍 넣은 '카페 쓰아 다'는 더운 날씨에 에너지를 보충해주는 최고의 음료입니다. 또한 쩨와 같은 전통 디저트는 건강한 식재료를 활용한 베트남식 푸딩이라 할 수 있습니다.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지역별 대표 명물 요리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호이안과 후에의 역사적 미식</a:t>
            </a:r>
          </a:p>
          <a:p>
            <a:r>
              <a:t>- 중부 도시 호이안의 '까오라우'는 일본 상인들의 영향으로 유래된 비빔국수로 독특한 면의 식감이 특징임</a:t>
            </a:r>
          </a:p>
          <a:p>
            <a:r>
              <a:t>- 완탕 형태의 '호안탄'과 물만두인 '화이트 로즈'는 호이안에서만 맛볼 수 있는 중국풍의 융합 요리임</a:t>
            </a:r>
          </a:p>
          <a:p>
            <a:r>
              <a:t>- 옛 왕조의 수도였던 후에는 정갈한 왕실 음식의 전통이 남아 있으며 매운 칼국수인 '분보후에'가 가장 유명함</a:t>
            </a:r>
          </a:p>
          <a:p>
            <a:r>
              <a:t>- 후에의 '넴루이'는 고기 완자를 채소와 함께 라이스 페이퍼에 싸 먹는 요리로 정성스러운 조리 과정이 돋보임</a:t>
            </a:r>
          </a:p>
          <a:p>
            <a:r>
              <a:t>- 바삭하게 튀겨낸 부침 요리인 '반코아이'는 풍성한 해산물과 고기를 사용하여 후에의 풍요로운 미식을 상징함</a:t>
            </a:r>
          </a:p>
          <a:p>
            <a:r>
              <a:t>**표 4: 중부 주요 도시 대표 음식 비교**</a:t>
            </a:r>
          </a:p>
          <a:p>
            <a:r>
              <a:t>| 도시 | 대표 음식 | 유래 및 특징 |</a:t>
            </a:r>
            <a:br/>
            <a:r>
              <a:t>| :--- | :--- | :--- |</a:t>
            </a:r>
            <a:br/>
            <a:r>
              <a:t>| **호이안** | 까오라우, 화이트 로즈 | 일본/중국 문화와의 결합 |</a:t>
            </a:r>
            <a:br/>
            <a:r>
              <a:t>| **후에** | 분보후에, 넴루이 | 왕실 요리 전통, 매콤한 맛 |</a:t>
            </a:r>
          </a:p>
          <a:p>
            <a:r>
              <a:t>::: notes</a:t>
            </a:r>
            <a:br/>
            <a:r>
              <a:t>호이안과 후에는 베트남 미식 여행의 핵심입니다. 호이안은 무역항으로서의 역사가 음식에 녹아 있고, 후에는 왕실의 품격이 매운맛과 섬세한 플레이팅으로 표현된 것이 특징입니다.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식당 이용 필수 어휘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메뉴판 판독을 위한 핵심 단어</a:t>
            </a:r>
          </a:p>
          <a:p>
            <a:r>
              <a:t>- 소고기(Bò), 돼지고기(Heo), 닭고기(Gà) 등 육류 관련 기본 단어 숙지는 정확한 주문을 위한 첫걸음임</a:t>
            </a:r>
          </a:p>
          <a:p>
            <a:r>
              <a:t>- 생선(Cá), 새우(Tôm), 게(Cua), 오징어(Mực) 등 풍부한 해산물 어휘를 통해 메뉴의 구성을 파악함</a:t>
            </a:r>
          </a:p>
          <a:p>
            <a:r>
              <a:t>- 두부(Đậu phụ), 숙주(Giá), 고추(Ớt), 마늘(Tỏi) 등 채소 명칭은 개인의 취향을 반영한 주문에 유용함</a:t>
            </a:r>
          </a:p>
          <a:p>
            <a:r>
              <a:t>- 찌개(Canh), 찜(Hấp), 삶음(Luộc), 구이(Nướng), 볶음(Xào) 등 조리법 어휘로 요리의 형태를 예측함</a:t>
            </a:r>
          </a:p>
          <a:p>
            <a:r>
              <a:t>- 밥(Cơm) 뒤에 조리법이나 재료명이 붙는 규칙을 이해하면 숯불갈비덮밥(Cơm sườn nướng) 등을 쉽게 구별함</a:t>
            </a:r>
          </a:p>
          <a:p>
            <a:r>
              <a:t>**표 5: 메뉴 판독을 위한 단어 조합 사례**</a:t>
            </a:r>
          </a:p>
          <a:p>
            <a:r>
              <a:t>| 단어 1 | 단어 2 | 완성된 메뉴 (의미) |</a:t>
            </a:r>
            <a:br/>
            <a:r>
              <a:t>| :--- | :--- | :--- |</a:t>
            </a:r>
            <a:br/>
            <a:r>
              <a:t>| **Bún (국수)** | **Bò (소고기)** | 분보 (소고기 국수) |</a:t>
            </a:r>
            <a:br/>
            <a:r>
              <a:t>| **Cơm (밥)** | **Gà (닭고기)** | 껌가 (닭고기 덮밥) |</a:t>
            </a:r>
            <a:br/>
            <a:r>
              <a:t>| **Mực (오징어)** | **Xào (볶음)** | 믁싸오 (오징어 볶음) |</a:t>
            </a:r>
            <a:br/>
            <a:r>
              <a:t>| **Lẩu (전골)** | **Cá (생선)** | 라우까 (생선 전골) |</a:t>
            </a:r>
          </a:p>
          <a:p>
            <a:r>
              <a:t>::: notes</a:t>
            </a:r>
            <a:br/>
            <a:r>
              <a:t>베트남어 메뉴판은 재료와 조리법의 조합으로 이루어져 있습니다. 이 몇 가지 단어만 알고 있어도 낯선 식당에서 당황하지 않고 본인이 원하는 요리를 정확하게 주문할 수 있습니다.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다낭 자유여행 추천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5박 6일의 효율적인 동선 설계</a:t>
            </a:r>
          </a:p>
          <a:p>
            <a:r>
              <a:t>- 1일차는 공항 도착 후 시내 숙소 체크인 및 한 시장 주변 탐방으로 현지 분위기에 적응하는 시간 가짐</a:t>
            </a:r>
          </a:p>
          <a:p>
            <a:r>
              <a:t>- 2일차는 대성당, 스파 체험, 용 다리 야경 감상 등 다낭 시내의 핵심 명소를 둘러보는 코스로 구성함</a:t>
            </a:r>
          </a:p>
          <a:p>
            <a:r>
              <a:t>- 3일차에는 오행산을 방문한 뒤 호이안으로 이동하여 안방 비치에서의 여유로운 휴양과 미식을 즐김</a:t>
            </a:r>
          </a:p>
          <a:p>
            <a:r>
              <a:t>- 4~5일차는 유네스코 세계문화유산인 호이안 구시가지의 등불 야경, 코코넛 햇 투어, 소원배 체험에 집중함</a:t>
            </a:r>
          </a:p>
          <a:p>
            <a:r>
              <a:t>- 6일차는 바나 힐 테마파크를 방문하여 골든 브릿지를 감상하고 쇼핑 후 밤 비행기로 귀국하는 일정임</a:t>
            </a:r>
          </a:p>
          <a:p>
            <a:r>
              <a:t>**실무 예시: 다낭 여행 동선 요약**</a:t>
            </a:r>
            <a:br/>
            <a:r>
              <a:t>- [다낭 시내] -&gt; [오행산/미케비치] -&gt; [호이안 올드타운] -&gt; [바나 힐]</a:t>
            </a:r>
            <a:br/>
            <a:r>
              <a:t>- 팁: 마지막 날 짐 보관과 샤워가 가능한 티라운지를 활용하면 비행기 탑승 전까지 쾌적한 여행 가능</a:t>
            </a:r>
          </a:p>
          <a:p>
            <a:r>
              <a:t>::: notes</a:t>
            </a:r>
            <a:br/>
            <a:r>
              <a:t>다낭 여행의 핵심은 다낭의 도시적 재미와 호이안의 전통적 아름다움을 적절히 섞는 것입니다. 5박 6일이면 테마파크인 바나 힐까지 포함하여 여유롭게 베트남 중부의 매력을 만끽할 수 있습니다.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베트남 여행 짐 꾸리기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6~7월 무더위 대비 필수 아이템</a:t>
            </a:r>
          </a:p>
          <a:p>
            <a:r>
              <a:t>- 여권, 항공권 바우처, 유심(USIM) 등 기본 서류와 통신 수단은 출국 전 가장 먼저 체크해야 할 항목임</a:t>
            </a:r>
          </a:p>
          <a:p>
            <a:r>
              <a:t>- 6~7월의 베트남은 매우 덥고 습하므로 통기성이 좋은 면 옷과 자외선 차단제, 선글라스, 모자 지참 필수임,</a:t>
            </a:r>
          </a:p>
          <a:p>
            <a:r>
              <a:t>- 화폐 단위가 크고 동전이 없는 베트남 동(VND)을 체계적으로 관리하기 위해 미니 포켓 파일(동지갑) 준비 추천함</a:t>
            </a:r>
          </a:p>
          <a:p>
            <a:r>
              <a:t>- 갑작스러운 위장 장애나 기온 차에 의한 감기에 대비하여 타이레놀, 지사제, 소화제 등 비상약 구비 필요함</a:t>
            </a:r>
          </a:p>
          <a:p>
            <a:r>
              <a:t>- 에어컨이 강한 기내나 바람이 부는 바나 힐 등 기온 차가 큰 장소에서 활용할 가벼운 겉옷이나 스카프 챙김</a:t>
            </a:r>
          </a:p>
          <a:p>
            <a:r>
              <a:t>**표 6: 베트남 여행 필수/선택 준비물 리스트**</a:t>
            </a:r>
          </a:p>
          <a:p>
            <a:r>
              <a:t>| 구분 | 필수 품목 | 유용한 선택 품목 |</a:t>
            </a:r>
            <a:br/>
            <a:r>
              <a:t>| :--- | :--- | :--- |</a:t>
            </a:r>
            <a:br/>
            <a:r>
              <a:t>| **금융/서류** | 여권, 바우처, 환전금 | 여권 사본, **동지갑** |</a:t>
            </a:r>
            <a:br/>
            <a:r>
              <a:t>| **의생/건강** | 비상약, 선크림, 세면도구 | 모기 기피제, 손 소독제 |</a:t>
            </a:r>
            <a:br/>
            <a:r>
              <a:t>| **생활/기타** | 충전기, 보조배터리, 우산 | 휴대용 선풍기, 슬리퍼 |</a:t>
            </a:r>
          </a:p>
          <a:p>
            <a:r>
              <a:t>::: notes</a:t>
            </a:r>
            <a:br/>
            <a:r>
              <a:t>베트남 여행 시 '동지갑'은 계산 실수를 줄여주는 최고의 발명품입니다. 또한 강한 햇빛과 실내의 강한 에어컨 바람 사이에서 건강을 지키기 위해 자외선 차단제와 얇은 외투는 반드시 챙겨야 합니다.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환전 및 예산 관리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현명한 화폐 가치 계산과 환전 전략</a:t>
            </a:r>
          </a:p>
          <a:p>
            <a:r>
              <a:t>- 베트남 동(VND) 계산 시 0을 하나 빼고 2로 나누면 한국 원화(KRW)와 비슷한 가치로 쉽게 산출 가능함</a:t>
            </a:r>
          </a:p>
          <a:p>
            <a:r>
              <a:t>- 한화에서 달러(100불권 고액권)로 환전한 뒤 현지 금은방이나 환전소에서 동으로 바꾸는 이중 환전이 가장 유리함</a:t>
            </a:r>
          </a:p>
          <a:p>
            <a:r>
              <a:t>- 팁 문화가 보편적이므로 벨보이나 마사지사에게는 1달러 또는 그에 상응하는 동을 지불하는 것이 관례임</a:t>
            </a:r>
          </a:p>
          <a:p>
            <a:r>
              <a:t>- 일부 식당에서는 테이블 위 물티슈나 생수를 유료로 제공하므로 사용 전 비용 포함 여부를 확인해야 함</a:t>
            </a:r>
          </a:p>
          <a:p>
            <a:r>
              <a:t>- 거스름돈이 큰 단위가 아닐 경우 셀프 팁으로 처리되어 돌려주지 않는 경우가 있으니 당황하지 말아야 함</a:t>
            </a:r>
          </a:p>
          <a:p>
            <a:r>
              <a:t>**[환율 계산 공식 ASCII]**</a:t>
            </a:r>
            <a:br/>
            <a:r>
              <a:t>[베트남 동 금액] -&gt; [뒤에서 0 제거] -&gt; [/ 2] -&gt; [한국 원 가치]</a:t>
            </a:r>
            <a:br/>
            <a:r>
              <a:t>예: 100,000 VND -&gt; 10,000 -&gt; 5,000 KRW</a:t>
            </a:r>
          </a:p>
          <a:p>
            <a:r>
              <a:t>::: notes</a:t>
            </a:r>
            <a:br/>
            <a:r>
              <a:t>단위가 큰 베트남 화폐는 여행자들을 가장 헷갈리게 합니다. '0 빼고 나누기 2' 법칙만 기억하세요. 또한 환전은 큰 단위의 달러를 준비해 현지 시내 금은방에서 바꾸는 것이 가장 환율이 좋습니다.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교통 수단 그랩(Grab)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바가지 요금 없는 안전한 이동 전략</a:t>
            </a:r>
          </a:p>
          <a:p>
            <a:r>
              <a:t>- 스마트폰 앱 '그랩'은 출발지와 목적지를 입력하면 요금이 미리 표시되어 가격 흥정의 번거로움을 제거함</a:t>
            </a:r>
          </a:p>
          <a:p>
            <a:r>
              <a:t>- 예약 완료 시 차량 번호와 기사 정보가 제공되어 안전하며 카카오 택시와 유사한 방식으로 이용이 간편함,</a:t>
            </a:r>
          </a:p>
          <a:p>
            <a:r>
              <a:t>- 오토바이가 많은 도로 특성상 길을 건널 때는 일정한 속도로 천천히 걸어가면 기사들이 알아서 피해 감</a:t>
            </a:r>
          </a:p>
          <a:p>
            <a:r>
              <a:t>- 교통 체증 시 화를 내기보다는 차분함을 유지하고 흐름에 맡기는 태도가 즐거운 여행을 유지하는 비결임</a:t>
            </a:r>
          </a:p>
          <a:p>
            <a:r>
              <a:t>- 기온이 가장 높은 오후 2시부터 5시 사이에는 야외 이동보다는 호텔 휴식이나 실내 일정을 권장함</a:t>
            </a:r>
          </a:p>
          <a:p>
            <a:r>
              <a:t>**[그랩 이용 프로세스 흐름도]**</a:t>
            </a:r>
            <a:br/>
            <a:r>
              <a:t>[목적지 설정] -&gt; [요금 확인/차량 호출] -&gt; [차량 번호 대조 후 탑승] -&gt; [목적지 도착 및 결제]</a:t>
            </a:r>
          </a:p>
          <a:p>
            <a:r>
              <a:t>::: notes</a:t>
            </a:r>
            <a:br/>
            <a:r>
              <a:t>베트남 여행의 발이 되어주는 그랩은 투명한 요금 체계 덕분에 필수 앱으로 꼽힙니다. 복잡한 도로 상황에서도 베트남만의 규칙을 이해하고 여유로운 마음으로 이동하는 것이 중요합니다.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베트남 여행 에티켓 (Do's)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현지인과 소통하는 긍정적 태도</a:t>
            </a:r>
          </a:p>
          <a:p>
            <a:r>
              <a:t>- 진심 어린 미소로 현지인에게 인사하고 "Xin chao", "Cam on" 등 기초 베트남어를 사용하여 친밀감 형성,</a:t>
            </a:r>
          </a:p>
          <a:p>
            <a:r>
              <a:t>- 타인의 인물 사진이나 운영 중인 가게 내부를 촬영하기 전에는 반드시 정중하게 허락을 구하는 예의를 갖춤</a:t>
            </a:r>
          </a:p>
          <a:p>
            <a:r>
              <a:t>- 전통 시장에서의 흥정은 공격적인 태도 대신 미소와 가벼운 말투를 유지하며 문화적 교류로 즐김</a:t>
            </a:r>
          </a:p>
          <a:p>
            <a:r>
              <a:t>- 유교 전통이 강한 사회이므로 모임이나 장소 방문 시 노인에게 먼저 인사를 건네고 존경을 표함</a:t>
            </a:r>
          </a:p>
          <a:p>
            <a:r>
              <a:t>- 식사 시 주인이나 어른이 먼저 먹기를 기다리고 젓가락을 그릇에 세우지 않는 등 테이블 매너 준수</a:t>
            </a:r>
          </a:p>
          <a:p>
            <a:r>
              <a:t>**실무 예시: 기초 생존 베트남어**</a:t>
            </a:r>
            <a:br/>
            <a:r>
              <a:t>- 신 짜오 (Xin chào): 안녕하세요</a:t>
            </a:r>
            <a:br/>
            <a:r>
              <a:t>- 깜 언 (Cảm ơn): 감사합니다</a:t>
            </a:r>
            <a:br/>
            <a:r>
              <a:t>- 신 로이 (Xin lỗi): 죄송합니다</a:t>
            </a:r>
          </a:p>
          <a:p>
            <a:r>
              <a:t>::: notes</a:t>
            </a:r>
            <a:br/>
            <a:r>
              <a:t>베트남 사람들은 매우 친절하지만 그만큼 예의를 중시합니다. 간단한 인사말과 미소만으로도 훨씬 더 따뜻한 환대를 받을 수 있으며, 특히 어른에 대한 공경은 베트남 문화의 핵심임을 잊지 마세요.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여행 시 주의사항 (Don'ts)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문화적 마찰을 피하기 위한 금기 사항</a:t>
            </a:r>
          </a:p>
          <a:p>
            <a:r>
              <a:t>- 사원이나 종교 시설 방문 시 어깨와 무릎을 드러내는 노출 복장을 피하고 반드시 신발을 벗고 입장함</a:t>
            </a:r>
          </a:p>
          <a:p>
            <a:r>
              <a:t>- 보수적인 사회 분위기를 고려하여 공공장소에서의 지나친 애정 표현은 금기 사항임을 인지하고 자제함</a:t>
            </a:r>
          </a:p>
          <a:p>
            <a:r>
              <a:t>- 머리는 신성한 부위로 여겨지므로 타인의 머리를 함부로 만지지 않으며 사람을 발로 가리키지 않음,</a:t>
            </a:r>
          </a:p>
          <a:p>
            <a:r>
              <a:t>- 정치, 종교, 소득 수준 등 민감한 대화 주제를 피하고 음식이나 오락 등 중립적인 주제로 소통함</a:t>
            </a:r>
          </a:p>
          <a:p>
            <a:r>
              <a:t>- 석회질이 섞였을 가능성이 있는 수돗물을 직접 마시지 말고 반드시 생수나 필터링된 물을 사용함</a:t>
            </a:r>
          </a:p>
          <a:p>
            <a:r>
              <a:t>**표 7: 베트남 여행 시 반드시 피해야 할 행동**</a:t>
            </a:r>
          </a:p>
          <a:p>
            <a:r>
              <a:t>| 항목 | 피해야 할 행동 | 문화적 이유 |</a:t>
            </a:r>
            <a:br/>
            <a:r>
              <a:t>| :--- | :--- | :--- |</a:t>
            </a:r>
            <a:br/>
            <a:r>
              <a:t>| **복장** | 사찰 내 민소매/짧은 하의 | 종교적 신성함 존중 |</a:t>
            </a:r>
            <a:br/>
            <a:r>
              <a:t>| **신체 접촉** | 타인의 머리 만지기 | 머리를 영혼의 안식처로 여김 |</a:t>
            </a:r>
            <a:br/>
            <a:r>
              <a:t>| **대화** | 베트남 정치 체제 비판 | 사회 질서 및 민감성 고려 |</a:t>
            </a:r>
            <a:br/>
            <a:r>
              <a:t>| **위생** | 수돗물 그대로 마시기 | 배탈 및 위장 장애 예방 |</a:t>
            </a:r>
          </a:p>
          <a:p>
            <a:r>
              <a:t>::: notes</a:t>
            </a:r>
            <a:br/>
            <a:r>
              <a:t>문화적 차이를 이해하는 것은 안전한 여행의 기초입니다. 특히 사원 복장 규정과 머리 만지기 금기는 베트남인들이 중요하게 생각하는 예절이므로 각별한 주의가 필요합니다.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북부 지역 기후 및 복장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하노이와 사파의 사계절 대응 전략</a:t>
            </a:r>
          </a:p>
          <a:p>
            <a:r>
              <a:t>- 북부 지역은 뚜렷한 사계절이 있으며 가장 추운 1월에는 기온이 15도 내외로 떨어져 두꺼운 재킷과 스카프 필요,</a:t>
            </a:r>
          </a:p>
          <a:p>
            <a:r>
              <a:t>- 봄에 해당하는 3~4월은 시원하고 건조하여 관광하기에 가장 완벽하며 레이어링 가능한 가벼운 옷차림 추천</a:t>
            </a:r>
          </a:p>
          <a:p>
            <a:r>
              <a:t>- 여름인 6~8월은 30도를 웃도는 고온과 폭우가 동반되므로 통기성 좋은 옷과 우천 시 활용할 방수 신발 준비</a:t>
            </a:r>
          </a:p>
          <a:p>
            <a:r>
              <a:t>- 가을인 10~11월은 캘리포니아의 가을처럼 쾌적하여 긴팔 면바지와 가벼운 외투만으로 편안한 여행 가능</a:t>
            </a:r>
          </a:p>
          <a:p>
            <a:r>
              <a:t>- 고산 지대인 사파는 겨울 기온이 0도까지 떨어지고 눈이 올 수도 있으므로 겨울 산행 수준의 방한 장비 필수</a:t>
            </a:r>
          </a:p>
          <a:p>
            <a:r>
              <a:t>**표 8: 베트남 북부 월별 옷차림 가이드**</a:t>
            </a:r>
          </a:p>
          <a:p>
            <a:r>
              <a:t>| 시기 | 날씨 특징 | 추천 복장 |</a:t>
            </a:r>
            <a:br/>
            <a:r>
              <a:t>| :--- | :--- | :--- |</a:t>
            </a:r>
            <a:br/>
            <a:r>
              <a:t>| **12~2월** | 춥고 건조한 겨울 | 두꺼운 재킷, 스웨터, 부츠 |</a:t>
            </a:r>
            <a:br/>
            <a:r>
              <a:t>| **3~5월** | 따뜻한 봄 날씨 | 티셔츠, 가벼운 셔츠, 스니커즈 |</a:t>
            </a:r>
            <a:br/>
            <a:r>
              <a:t>| **6~8월** | 무덥고 습하며 폭우 | 반바지, 탱크톱, 레인 기어 |</a:t>
            </a:r>
            <a:br/>
            <a:r>
              <a:t>| **9~11월** | 쾌적한 가을 날씨 | 가벼운 바지, 재킷, 긴팔 |</a:t>
            </a:r>
          </a:p>
          <a:p>
            <a:r>
              <a:t>::: notes</a:t>
            </a:r>
            <a:br/>
            <a:r>
              <a:t>동남아라고 해서 항상 더운 것은 아닙니다. 특히 하노이와 사파를 포함한 북부는 겨울철에 상당히 쌀쌀해지므로 방문 시기에 맞는 전략적인 짐 꾸리기가 건강을 지키는 비결입니다.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중부 및 남부 기후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다낭과 푸꾸옥의 계절별 특징</a:t>
            </a:r>
          </a:p>
          <a:p>
            <a:r>
              <a:t>- 다낭 중심의 중부 지역은 2~8월까지 강렬한 건조 더위가 이어지므로 정오의 햇볕을 피하고 충분한 수분 섭취 권장,</a:t>
            </a:r>
          </a:p>
          <a:p>
            <a:r>
              <a:t>- 중부의 우기인 9~1월에는 몬순 영향으로 폭우와 홍수 가능성이 있으니 방수복과 장화 등 대비책 마련 필요</a:t>
            </a:r>
          </a:p>
          <a:p>
            <a:r>
              <a:t>- 호찌민과 푸꾸옥의 남부 지역은 일 년 내내 25~35도의 열대 기후를 유지하며 기온 변화가 거의 없음</a:t>
            </a:r>
          </a:p>
          <a:p>
            <a:r>
              <a:t>- 남부의 우기인 5~10월은 매일 짧고 강한 소나기가 내리므로 속건성 원단의 옷과 우산 휴대가 실용적임,</a:t>
            </a:r>
          </a:p>
          <a:p>
            <a:r>
              <a:t>- 건기인 11~4월은 해변 휴양을 즐기기에 가장 이상적인 날씨로 가벼운 원피스와 슬리퍼 등 여름 복장 적합</a:t>
            </a:r>
          </a:p>
          <a:p>
            <a:r>
              <a:t>**[지역별 기후 비교 막대]**</a:t>
            </a:r>
            <a:br/>
            <a:r>
              <a:t>- 북부(하노이): ████ (사계절 뚜렷)</a:t>
            </a:r>
            <a:br/>
            <a:r>
              <a:t>- 중부(다낭):   ██████ (강렬한 건기/홍수 우기)</a:t>
            </a:r>
            <a:br/>
            <a:r>
              <a:t>- 남부(푸꾸옥): ████████ (일관된 열대 기후)</a:t>
            </a:r>
          </a:p>
          <a:p>
            <a:r>
              <a:t>::: notes</a:t>
            </a:r>
            <a:br/>
            <a:r>
              <a:t>중부 지역은 태풍과 홍수의 영향이 크므로 9월 이후 여행 시 일기예보를 잘 확인해야 합니다. 반면 남부 지역은 항상 덥기 때문에 시원한 소재의 옷 위주로 준비하면 충분합니다.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장소별 권장 복장 에티켓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성별 및 상황에 맞는 단정한 스타일</a:t>
            </a:r>
          </a:p>
          <a:p>
            <a:r>
              <a:t>- 여성은 일상적으로 무릎 길이 이상의 반바지나 원피스를 착용하되 시골 지역에서는 과도한 노출 자제 권고,</a:t>
            </a:r>
          </a:p>
          <a:p>
            <a:r>
              <a:t>- 사찰 방문 시 여성은 어깨와 무릎을 완전히 가리는 긴 하의와 스카프를 착용하고 쉽게 벗는 신발 선택</a:t>
            </a:r>
          </a:p>
          <a:p>
            <a:r>
              <a:t>- 남성은 종교 시설에서 긴 바지 착용이 필수이며 칼라가 있는 셔츠나 소매가 있는 티셔츠를 입어 예의 표함</a:t>
            </a:r>
          </a:p>
          <a:p>
            <a:r>
              <a:t>- 해변 구역을 벗어나 시내를 다닐 때는 수영복만 입거나 상의를 탈의하는 행위는 문화적으로 수용되지 않음,</a:t>
            </a:r>
          </a:p>
          <a:p>
            <a:r>
              <a:t>- 비즈니스 미팅 시에는 보수적인 색상의 정장 바지와 닫힌 앞코 구두를 착용하여 전문적인 태도를 유지함,</a:t>
            </a:r>
          </a:p>
          <a:p>
            <a:r>
              <a:t>**실무 예시: 아오자이 착용 가이드**</a:t>
            </a:r>
            <a:br/>
            <a:r>
              <a:t>- 베트남 전통 의상인 아오자이를 입는 것은 현지 문화 존중의 표시임</a:t>
            </a:r>
            <a:br/>
            <a:r>
              <a:t>- 단, 애도를 상징하는 흰색은 피하고 너무 꽉 끼는 피팅보다는 단정한 스타일 선택 권장</a:t>
            </a:r>
          </a:p>
          <a:p>
            <a:r>
              <a:t>::: notes</a:t>
            </a:r>
            <a:br/>
            <a:r>
              <a:t>베트남은 해변 휴양지이지만 도심과 종교 시설에서는 상당히 보수적인 복장 규정을 가지고 있습니다. 특히 사찰 방문 전에는 가방에 가벼운 스카프 하나를 챙겨두면 필요할 때 유용하게 활용할 수 있습니다.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푸꾸옥 주요 리조트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동행인과 취향에 따른 숙소 선택</a:t>
            </a:r>
          </a:p>
          <a:p>
            <a:r>
              <a:t>- 멜리아 빈펄은 520여 채의 대규모 풀빌라를 보유하고 빈원더스 등 북부 테마파크와의 접근성이 탁월함,</a:t>
            </a:r>
          </a:p>
          <a:p>
            <a:r>
              <a:t>- 모벤픽 리조트는 매일 오후 무료 초콜릿 아워를 제공하며 서양인 투숙객 비율이 높아 이국적 분위기 선사함,</a:t>
            </a:r>
          </a:p>
          <a:p>
            <a:r>
              <a:t>- 세일링 클럽은 감각적인 복층 구조의 풀빌라와 화려한 불쇼를 즐길 수 있는 비치 클럽으로 커플에게 인기임,</a:t>
            </a:r>
          </a:p>
          <a:p>
            <a:r>
              <a:t>- 풀만 리조트는 개인 풀빌라는 없으나 트렌디한 대형 수영장과 수준 높은 조식 레스토랑으로 젊은 층에 적합함</a:t>
            </a:r>
          </a:p>
          <a:p>
            <a:r>
              <a:t>- 리젠트 푸꾸옥은 섬 내 최고 수준의 럭셔리 시설과 무료 미니바 서비스를 제공하는 프라이빗 허니문 명소임,</a:t>
            </a:r>
          </a:p>
          <a:p>
            <a:r>
              <a:t>**표 9: 푸꾸옥 인기 리조트 핵심 특징 비교**</a:t>
            </a:r>
          </a:p>
          <a:p>
            <a:r>
              <a:t>| 리조트명 | 주요 장점 | 권장 대상 |</a:t>
            </a:r>
            <a:br/>
            <a:r>
              <a:t>| :--- | :--- | :--- |</a:t>
            </a:r>
            <a:br/>
            <a:r>
              <a:t>| **멜리아 빈펄** | 테마파크 셔틀, 대규모 빌라 | 대가족, 어린이 동반 |</a:t>
            </a:r>
            <a:br/>
            <a:r>
              <a:t>| **세일링 클럽** | 화려한 불쇼, 복층 인테리어 | 친구, 젊은 커플 |</a:t>
            </a:r>
            <a:br/>
            <a:r>
              <a:t>| **인터컨티넨탈** | 키즈 프로그램, 럭셔리 어메니티 | 아이 동반 가족 여행 |</a:t>
            </a:r>
            <a:br/>
            <a:r>
              <a:t>| **리젠트** | 압도적 럭셔리, 조용한 휴식 | 허니문, 플렉스 여행 |</a:t>
            </a:r>
          </a:p>
          <a:p>
            <a:r>
              <a:t>::: notes</a:t>
            </a:r>
            <a:br/>
            <a:r>
              <a:t>푸꾸옥은 '호캉스'가 여행의 절반 이상을 차지하는 곳입니다. 아이들과 함께라면 빈펄이나 인터컨티넨탈을, 조용한 럭셔리를 원한다면 리젠트를 추천합니다. 각 리조트의 강점을 미리 파악하고 예약하세요.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감염병 예방 및 안전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안전한 해외여행을 위한 위생 수칙</a:t>
            </a:r>
          </a:p>
          <a:p>
            <a:r>
              <a:t>- 최근 수인성 식품 매개 감염병과 모기 매개 감염병 유입이 전년 대비 5배 급증하여 각별한 주의 요구됨,</a:t>
            </a:r>
          </a:p>
          <a:p>
            <a:r>
              <a:t>- 세균성이질과 콜레라 예방을 위해 음식은 반드시 익혀 먹고 물은 끓여 마시며 식사 전 30초 이상 손 씻기 준수,</a:t>
            </a:r>
          </a:p>
          <a:p>
            <a:r>
              <a:t>- 홍역은 전염성이 매우 강하므로 출국 4~6주 전 예방백신(MMR) 2회 접종 여부를 확인하고 미접종 시 완료 권고</a:t>
            </a:r>
          </a:p>
          <a:p>
            <a:r>
              <a:t>- 입국 시 이상 증상 발생 시 Q-CODE에 정확히 입력하고 귀국 후 의심 증상 시 1339 콜센터에 상담함</a:t>
            </a:r>
          </a:p>
          <a:p>
            <a:r>
              <a:t>- 베트남은 뎅기열, 치쿤구니야열 등 모기 매개 감염병의 주요 유입 국가 중 하나로 현지에서 모기 노출 최소화,</a:t>
            </a:r>
          </a:p>
          <a:p>
            <a:r>
              <a:t>**표 10: 주의해야 할 주요 해외 유입 감염병**</a:t>
            </a:r>
          </a:p>
          <a:p>
            <a:r>
              <a:t>| 질병명 | 주요 전파 경로 | 핵심 예방 수칙 |</a:t>
            </a:r>
            <a:br/>
            <a:r>
              <a:t>| :--- | :--- | :--- |</a:t>
            </a:r>
            <a:br/>
            <a:r>
              <a:t>| **세균성이질** | 오염된 물/식품 섭취 | 손 씻기, 익혀 먹기 |</a:t>
            </a:r>
            <a:br/>
            <a:r>
              <a:t>| **뎅기열** | 매개 모기(숲모기) 물림 | 기피제 사용, 긴소매 착용 |</a:t>
            </a:r>
            <a:br/>
            <a:r>
              <a:t>| **홍역** | 기침/재채기(공기 전파) | MMR 백신 접종 확인 |</a:t>
            </a:r>
            <a:br/>
            <a:r>
              <a:t>| **말라리아** | 매개 모기 물림 | 예방약 복용, 방충망 사용 |</a:t>
            </a:r>
          </a:p>
          <a:p>
            <a:r>
              <a:t>::: notes</a:t>
            </a:r>
            <a:br/>
            <a:r>
              <a:t>건강보다 중요한 것은 없습니다. 베트남 여행 중에는 길거리 음식의 위생 상태를 항상 확인하고, 특히 아이들과 함께하는 여행이라면 백신 접종 이력을 반드시 사전에 체크하여 안전한 여행을 준비하세요.</a:t>
            </a:r>
            <a:br/>
            <a:r>
              <a:t>:::</a:t>
            </a:r>
          </a:p>
          <a:p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모기 매개 감염병 대응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 뎅기열과 말라리아로부터 몸 지키기</a:t>
            </a:r>
          </a:p>
          <a:p>
            <a:r>
              <a:t>- 뎅기열은 동남아시아에서 급증하는 질환으로 고열, 두통, 근육통 증상 발생 시 신속한 진단과 치료가 생명임,</a:t>
            </a:r>
          </a:p>
          <a:p>
            <a:r>
              <a:t>- 모기에 물리지 않는 것이 가장 완벽한 예방법이므로 야외 활동 시 밝은색 긴 옷을 착용하고 기피제를 수시로 사용함</a:t>
            </a:r>
          </a:p>
          <a:p>
            <a:r>
              <a:t>- 지카바이러스는 모기 외에도 성접촉을 통해 감염되므로 여행 후 최소 3개월간 임신 연기 및 안전한 성접촉 유지,</a:t>
            </a:r>
          </a:p>
          <a:p>
            <a:r>
              <a:t>- 말라리아 위험 지역 방문 전에는 의료기관을 방문하여 지역 내성을 고려한 예방약을 처방받아 복용 수칙 준수함</a:t>
            </a:r>
          </a:p>
          <a:p>
            <a:r>
              <a:t>- 감염병 증상 발현 시 의료진에게 반드시 해외 여행력을 고지하여 오진을 막고 적절한 치료를 받을 수 있게 함,</a:t>
            </a:r>
          </a:p>
          <a:p>
            <a:r>
              <a:t>**[모기 방지 3단계 전략]**</a:t>
            </a:r>
            <a:br/>
            <a:r>
              <a:t>1. **차단**: 밝은색 긴 소매와 긴 바지 착용으로 피부 노출 최소화</a:t>
            </a:r>
            <a:br/>
            <a:r>
              <a:t>2. **퇴치**: 식약처 인증 기피제 사용 및 취침 시 모기장 활용</a:t>
            </a:r>
            <a:br/>
            <a:r>
              <a:t>3. **감시**: 귀국 후 2주 이내 발열 등 증상 발생 시 즉시 보건소 방문</a:t>
            </a:r>
          </a:p>
          <a:p>
            <a:r>
              <a:t>::: notes</a:t>
            </a:r>
            <a:br/>
            <a:r>
              <a:t>모기 매개 질환은 예방이 최선입니다. 베트남의 덥고 습한 환경은 모기가 활동하기 최적의 조건이므로, 조금 번거롭더라도 긴 옷과 기피제를 활용하여 본인과 가족의 건강을 지키는 노력이 필요합니다.</a:t>
            </a:r>
            <a:br/>
            <a:r>
              <a:t>:::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