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9" Type="http://schemas.openxmlformats.org/officeDocument/2006/relationships/viewProps" Target="viewProps.xml" /><Relationship Id="rId38" Type="http://schemas.openxmlformats.org/officeDocument/2006/relationships/presProps" Target="presProps.xml" /><Relationship Id="rId1" Type="http://schemas.openxmlformats.org/officeDocument/2006/relationships/slideMaster" Target="slideMasters/slideMaster1.xml" /><Relationship Id="rId41" Type="http://schemas.openxmlformats.org/officeDocument/2006/relationships/tableStyles" Target="tableStyles.xml" /><Relationship Id="rId4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1페이지: 베트남 음식 문화의 기본 개념</a:t>
            </a:r>
          </a:p>
        </p:txBody>
      </p:sp>
      <p:sp>
        <p:nvSpPr>
          <p:cNvPr id="3" name="Content Placeholder 2"/>
          <p:cNvSpPr>
            <a:spLocks noGrp="1"/>
          </p:cNvSpPr>
          <p:nvPr>
            <p:ph idx="1"/>
          </p:nvPr>
        </p:nvSpPr>
        <p:spPr/>
        <p:txBody>
          <a:bodyPr/>
          <a:lstStyle/>
          <a:p>
            <a:pPr lvl="0"/>
            <a:r>
              <a:rPr b="1"/>
              <a:t>베트남 음식의 가장 핵심적인 조리 원칙은 반드시 불을 사용하여 굽고, 삶고, 끓이고, 볶는 등 따뜻하게 조리하여 섭취하는 것을 기준으로 삼음.</a:t>
            </a:r>
          </a:p>
          <a:p>
            <a:pPr lvl="0"/>
            <a:r>
              <a:rPr b="1"/>
              <a:t>날씨의 영향으로 인해 찬 음식이나 가공되지 않은 채소를 제외하고는 말린 식재료를 그대로 먹지 않으며 반드시 가공 과정을 거치는 특징을 보유함.</a:t>
            </a:r>
          </a:p>
          <a:p>
            <a:pPr lvl="0"/>
            <a:r>
              <a:rPr b="1"/>
              <a:t>주식으로 활용되는 각종 국수는 쌀로 만든 퍼(쌀국수), 당면 형태의 미엔, 말린 노란 국수인 미 등 그 종류가 매우 다양하여 선택의 폭이 넓음.</a:t>
            </a:r>
          </a:p>
          <a:p>
            <a:pPr lvl="0"/>
            <a:r>
              <a:rPr b="1"/>
              <a:t>풍부한 식재료를 활용하여 고기와 신선한 채소를 함께 넣어 싸 먹는 쌈 문화가 매우 발달하였으며 이는 베트남 요리의 건강한 이미지를 형성함.</a:t>
            </a:r>
          </a:p>
          <a:p>
            <a:pPr lvl="0"/>
            <a:r>
              <a:rPr b="1"/>
              <a:t>베트남 요리는 지형적 특성과 식재료의 분포에 따라 각 지역별로 매우 다양하게 나타나며 이는 베트남 문화의 다양성을 보여주는 중요한 지표임.</a:t>
            </a:r>
          </a:p>
          <a:p>
            <a:pPr lvl="0" indent="0" marL="0">
              <a:buNone/>
            </a:pPr>
            <a:r>
              <a:rPr b="1"/>
              <a:t>베트남 음식의 기본 특징 요약</a:t>
            </a:r>
            <a:r>
              <a:rPr/>
              <a:t> 베트남 음식은 기본적으로 따뜻한 성질을 중시하며, 이는 고온다습한 기후에서 음식이 쉽게 상하는 것을 방지하고 소화를 돕기 위한 지혜가 담긴 조리법입니다. 각종 국수류는 베트남 사람들의 일상에서 빠질 수 없는 주식이며, 쌀을 베이스로 한 다양한 변주가 가능합니다. 특히 채소와 고기를 조화롭게 섭취하는 쌈 문화는 영양 균형을 맞추는 동시에 베트남 요리만의 독특한 식감을 선사하는 요소로 자리 잡았습니다.</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2페이지: 설날 전통 음식 (반쯩과 반자이)</a:t>
            </a:r>
          </a:p>
        </p:txBody>
      </p:sp>
      <p:sp>
        <p:nvSpPr>
          <p:cNvPr id="4" name="Text Placeholder 3"/>
          <p:cNvSpPr>
            <a:spLocks noGrp="1"/>
          </p:cNvSpPr>
          <p:nvPr>
            <p:ph idx="2" sz="half" type="body"/>
          </p:nvPr>
        </p:nvSpPr>
        <p:spPr/>
        <p:txBody>
          <a:bodyPr/>
          <a:lstStyle/>
          <a:p>
            <a:pPr lvl="0"/>
            <a:r>
              <a:rPr b="1"/>
              <a:t>베트남 설날인 ’텟’을 상징하는 대표적인 음식으로 찹쌀, 녹두, 돼지고기를 바나나 잎사귀로 감싸 가마솥에서 6시간 이상 푹 쪄내는 정성이 필요함.</a:t>
            </a:r>
          </a:p>
          <a:p>
            <a:pPr lvl="0"/>
            <a:r>
              <a:rPr b="1"/>
              <a:t>사각형 형태의 ’반쯩’은 음(-)과 지구를 상징하며, 동그랗고 흰색인 ’반자이’는 양(+)과 하늘을 의미하여 베트남의 깊은 음양 철학을 반영함.</a:t>
            </a:r>
          </a:p>
          <a:p>
            <a:pPr lvl="0"/>
            <a:r>
              <a:rPr b="1"/>
              <a:t>반랑 왕국의 흥왕이 아들들에게 가장 맛있는 음식을 가져오게 하여 왕위를 계승하려 했던 설화에서 기원하며 쌀의 귀중함과 부모의 은혜를 강조함.</a:t>
            </a:r>
          </a:p>
          <a:p>
            <a:pPr lvl="0"/>
            <a:r>
              <a:rPr b="1"/>
              <a:t>냉장 시설이 부족했던 과거에도 실온에서 장기간 보관이 가능하도록 고안된 지혜로운 음식으로 설날 3일간 부엌의 평화를 지키는 역할을 수행함.</a:t>
            </a:r>
          </a:p>
          <a:p>
            <a:pPr lvl="0"/>
            <a:r>
              <a:rPr b="1"/>
              <a:t>“반쯩이 없으면 텟(설날)이 아니다”라는 격언이 있을 정도로 베트남 사람들에게 이 음식은 단순한 먹거리를 넘어 명절의 정체성을 확인하는 수단임.</a:t>
            </a:r>
          </a:p>
          <a:p>
            <a:pPr lvl="0" indent="0" marL="0">
              <a:buNone/>
            </a:pPr>
            <a:r>
              <a:rPr b="1"/>
              <a:t>설날 음식의 상징성 비교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음식명</a:t>
                      </a:r>
                    </a:p>
                  </a:txBody>
                  <a:tcPr/>
                </a:tc>
                <a:tc>
                  <a:txBody>
                    <a:bodyPr/>
                    <a:lstStyle/>
                    <a:p>
                      <a:pPr lvl="0" indent="0" marL="0" algn="l">
                        <a:buNone/>
                      </a:pPr>
                      <a:r>
                        <a:rPr/>
                        <a:t>형태</a:t>
                      </a:r>
                    </a:p>
                  </a:txBody>
                  <a:tcPr/>
                </a:tc>
                <a:tc>
                  <a:txBody>
                    <a:bodyPr/>
                    <a:lstStyle/>
                    <a:p>
                      <a:pPr lvl="0" indent="0" marL="0" algn="l">
                        <a:buNone/>
                      </a:pPr>
                      <a:r>
                        <a:rPr/>
                        <a:t>상징 요소</a:t>
                      </a:r>
                    </a:p>
                  </a:txBody>
                  <a:tcPr/>
                </a:tc>
                <a:tc>
                  <a:txBody>
                    <a:bodyPr/>
                    <a:lstStyle/>
                    <a:p>
                      <a:pPr lvl="0" indent="0" marL="0" algn="l">
                        <a:buNone/>
                      </a:pPr>
                      <a:r>
                        <a:rPr/>
                        <a:t>의미</a:t>
                      </a:r>
                    </a:p>
                  </a:txBody>
                  <a:tcPr/>
                </a:tc>
              </a:tr>
              <a:tr h="0">
                <a:tc>
                  <a:txBody>
                    <a:bodyPr/>
                    <a:lstStyle/>
                    <a:p>
                      <a:pPr lvl="0" indent="0" marL="0" algn="l">
                        <a:buNone/>
                      </a:pPr>
                      <a:r>
                        <a:rPr b="1"/>
                        <a:t>반쯩(Bánh Chưng)</a:t>
                      </a:r>
                    </a:p>
                  </a:txBody>
                </a:tc>
                <a:tc>
                  <a:txBody>
                    <a:bodyPr/>
                    <a:lstStyle/>
                    <a:p>
                      <a:pPr lvl="0" indent="0" marL="0" algn="l">
                        <a:buNone/>
                      </a:pPr>
                      <a:r>
                        <a:rPr/>
                        <a:t>사각형</a:t>
                      </a:r>
                    </a:p>
                  </a:txBody>
                </a:tc>
                <a:tc>
                  <a:txBody>
                    <a:bodyPr/>
                    <a:lstStyle/>
                    <a:p>
                      <a:pPr lvl="0" indent="0" marL="0" algn="l">
                        <a:buNone/>
                      </a:pPr>
                      <a:r>
                        <a:rPr/>
                        <a:t>음(-), 지구</a:t>
                      </a:r>
                    </a:p>
                  </a:txBody>
                </a:tc>
                <a:tc>
                  <a:txBody>
                    <a:bodyPr/>
                    <a:lstStyle/>
                    <a:p>
                      <a:pPr lvl="0" indent="0" marL="0" algn="l">
                        <a:buNone/>
                      </a:pPr>
                      <a:r>
                        <a:rPr/>
                        <a:t>식물(녹두), 동물(돼지고기), 번성(바나나잎)</a:t>
                      </a:r>
                    </a:p>
                  </a:txBody>
                </a:tc>
              </a:tr>
              <a:tr h="0">
                <a:tc>
                  <a:txBody>
                    <a:bodyPr/>
                    <a:lstStyle/>
                    <a:p>
                      <a:pPr lvl="0" indent="0" marL="0" algn="l">
                        <a:buNone/>
                      </a:pPr>
                      <a:r>
                        <a:rPr b="1"/>
                        <a:t>반자이(Bánh Giầy)</a:t>
                      </a:r>
                    </a:p>
                  </a:txBody>
                </a:tc>
                <a:tc>
                  <a:txBody>
                    <a:bodyPr/>
                    <a:lstStyle/>
                    <a:p>
                      <a:pPr lvl="0" indent="0" marL="0" algn="l">
                        <a:buNone/>
                      </a:pPr>
                      <a:r>
                        <a:rPr/>
                        <a:t>원형</a:t>
                      </a:r>
                    </a:p>
                  </a:txBody>
                </a:tc>
                <a:tc>
                  <a:txBody>
                    <a:bodyPr/>
                    <a:lstStyle/>
                    <a:p>
                      <a:pPr lvl="0" indent="0" marL="0" algn="l">
                        <a:buNone/>
                      </a:pPr>
                      <a:r>
                        <a:rPr/>
                        <a:t>양(+), 하늘</a:t>
                      </a:r>
                    </a:p>
                  </a:txBody>
                </a:tc>
                <a:tc>
                  <a:txBody>
                    <a:bodyPr/>
                    <a:lstStyle/>
                    <a:p>
                      <a:pPr lvl="0" indent="0" marL="0" algn="l">
                        <a:buNone/>
                      </a:pPr>
                      <a:r>
                        <a:rPr/>
                        <a:t>쌀의 귀중함, 조상에 대한 공경</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베트남의 설날 음식인 반쯩과 반자이는 건국 설화와 밀접한 관련이 있으며, 하늘과 땅에 대한 감사와 부모님에 대한 효심을 쌀이라는 매개체를 통해 표현한 문화적 산물입니다. 랑리레우 왕자가 신의 계시를 받아 만든 이 떡들은 흥왕으로부터 맛과 의미를 모두 인정받아 오늘날까지 전통으로 이어지고 있습니다.</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3페이지: 일상식 껌판과 베트남의 영혼 쌀국수(퍼)</a:t>
            </a:r>
          </a:p>
        </p:txBody>
      </p:sp>
      <p:sp>
        <p:nvSpPr>
          <p:cNvPr id="4" name="Text Placeholder 3"/>
          <p:cNvSpPr>
            <a:spLocks noGrp="1"/>
          </p:cNvSpPr>
          <p:nvPr>
            <p:ph idx="2" sz="half" type="body"/>
          </p:nvPr>
        </p:nvSpPr>
        <p:spPr/>
        <p:txBody>
          <a:bodyPr/>
          <a:lstStyle/>
          <a:p>
            <a:pPr lvl="0"/>
            <a:r>
              <a:rPr b="1"/>
              <a:t>’껌판’은 흰 쌀밥에 생선조림, 계란, 채소, 국 등을 곁들여 먹는 베트남식 백반으로 한국의 가정식과 유사한 구성을 가진 대중적인 식사 형태임.</a:t>
            </a:r>
          </a:p>
          <a:p>
            <a:pPr lvl="0"/>
            <a:r>
              <a:rPr b="1"/>
              <a:t>덮밥류인 ’껌’은 뒤에 주재료 이름을 붙여 표기하는데, 닭고기를 올린 껌가나 숯불 갈비구이를 곁들인 껌스언느엉이 가장 대표적인 메뉴에 해당함.</a:t>
            </a:r>
          </a:p>
          <a:p>
            <a:pPr lvl="0"/>
            <a:r>
              <a:rPr b="1"/>
              <a:t>’퍼’라 불리는 쌀국수는 쌀을 불려 갈아 전병처럼 얇게 펴서 말린 뒤 절단하여 면을 만들며 닭고기, 돼지고기, 쇠고기 국물을 베이스로 활용함.</a:t>
            </a:r>
          </a:p>
          <a:p>
            <a:pPr lvl="0"/>
            <a:r>
              <a:rPr b="1"/>
              <a:t>쇠고기 쌀국수인 ’퍼보’는 주로 베트남 북부 지역에서 발달한 음식인 반면, 남부 지역에서는 닭 국물을 사용한 ’퍼가’가 더 보편적으로 소비됨.</a:t>
            </a:r>
          </a:p>
          <a:p>
            <a:pPr lvl="0"/>
            <a:r>
              <a:rPr b="1"/>
              <a:t>쌀국수의 기원에 대해서는 1천 년 이상의 전통이라는 주장과 프랑스 영향으로 생긴 최근 100년의 전통이라는 학설이 대립하며 논쟁이 지속됨.</a:t>
            </a:r>
          </a:p>
          <a:p>
            <a:pPr lvl="0" indent="0" marL="0">
              <a:buNone/>
            </a:pPr>
            <a:r>
              <a:rPr b="1"/>
              <a:t>베트남 쌀국수(퍼)의 지역별 및 재료별 차이</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종류</a:t>
                      </a:r>
                    </a:p>
                  </a:txBody>
                  <a:tcPr/>
                </a:tc>
                <a:tc>
                  <a:txBody>
                    <a:bodyPr/>
                    <a:lstStyle/>
                    <a:p>
                      <a:pPr lvl="0" indent="0" marL="0" algn="l">
                        <a:buNone/>
                      </a:pPr>
                      <a:r>
                        <a:rPr/>
                        <a:t>주재료</a:t>
                      </a:r>
                    </a:p>
                  </a:txBody>
                  <a:tcPr/>
                </a:tc>
                <a:tc>
                  <a:txBody>
                    <a:bodyPr/>
                    <a:lstStyle/>
                    <a:p>
                      <a:pPr lvl="0" indent="0" marL="0" algn="l">
                        <a:buNone/>
                      </a:pPr>
                      <a:r>
                        <a:rPr/>
                        <a:t>특징</a:t>
                      </a:r>
                    </a:p>
                  </a:txBody>
                  <a:tcPr/>
                </a:tc>
                <a:tc>
                  <a:txBody>
                    <a:bodyPr/>
                    <a:lstStyle/>
                    <a:p>
                      <a:pPr lvl="0" indent="0" marL="0" algn="l">
                        <a:buNone/>
                      </a:pPr>
                      <a:r>
                        <a:rPr/>
                        <a:t>주요 지역</a:t>
                      </a:r>
                    </a:p>
                  </a:txBody>
                  <a:tcPr/>
                </a:tc>
              </a:tr>
              <a:tr h="0">
                <a:tc>
                  <a:txBody>
                    <a:bodyPr/>
                    <a:lstStyle/>
                    <a:p>
                      <a:pPr lvl="0" indent="0" marL="0" algn="l">
                        <a:buNone/>
                      </a:pPr>
                      <a:r>
                        <a:rPr b="1"/>
                        <a:t>퍼보 (Phở Bò)</a:t>
                      </a:r>
                    </a:p>
                  </a:txBody>
                </a:tc>
                <a:tc>
                  <a:txBody>
                    <a:bodyPr/>
                    <a:lstStyle/>
                    <a:p>
                      <a:pPr lvl="0" indent="0" marL="0" algn="l">
                        <a:buNone/>
                      </a:pPr>
                      <a:r>
                        <a:rPr/>
                        <a:t>쇠고기</a:t>
                      </a:r>
                    </a:p>
                  </a:txBody>
                </a:tc>
                <a:tc>
                  <a:txBody>
                    <a:bodyPr/>
                    <a:lstStyle/>
                    <a:p>
                      <a:pPr lvl="0" indent="0" marL="0" algn="l">
                        <a:buNone/>
                      </a:pPr>
                      <a:r>
                        <a:rPr/>
                        <a:t>깊고 진한 육수, 쇠고기 편육</a:t>
                      </a:r>
                    </a:p>
                  </a:txBody>
                </a:tc>
                <a:tc>
                  <a:txBody>
                    <a:bodyPr/>
                    <a:lstStyle/>
                    <a:p>
                      <a:pPr lvl="0" indent="0" marL="0" algn="l">
                        <a:buNone/>
                      </a:pPr>
                      <a:r>
                        <a:rPr/>
                        <a:t>북부(하노이 등)</a:t>
                      </a:r>
                    </a:p>
                  </a:txBody>
                </a:tc>
              </a:tr>
              <a:tr h="0">
                <a:tc>
                  <a:txBody>
                    <a:bodyPr/>
                    <a:lstStyle/>
                    <a:p>
                      <a:pPr lvl="0" indent="0" marL="0" algn="l">
                        <a:buNone/>
                      </a:pPr>
                      <a:r>
                        <a:rPr b="1"/>
                        <a:t>퍼가 (Phở Gà)</a:t>
                      </a:r>
                    </a:p>
                  </a:txBody>
                </a:tc>
                <a:tc>
                  <a:txBody>
                    <a:bodyPr/>
                    <a:lstStyle/>
                    <a:p>
                      <a:pPr lvl="0" indent="0" marL="0" algn="l">
                        <a:buNone/>
                      </a:pPr>
                      <a:r>
                        <a:rPr/>
                        <a:t>닭고기</a:t>
                      </a:r>
                    </a:p>
                  </a:txBody>
                </a:tc>
                <a:tc>
                  <a:txBody>
                    <a:bodyPr/>
                    <a:lstStyle/>
                    <a:p>
                      <a:pPr lvl="0" indent="0" marL="0" algn="l">
                        <a:buNone/>
                      </a:pPr>
                      <a:r>
                        <a:rPr/>
                        <a:t>담백하고 깔끔한 맛, 닭고기 고명</a:t>
                      </a:r>
                    </a:p>
                  </a:txBody>
                </a:tc>
                <a:tc>
                  <a:txBody>
                    <a:bodyPr/>
                    <a:lstStyle/>
                    <a:p>
                      <a:pPr lvl="0" indent="0" marL="0" algn="l">
                        <a:buNone/>
                      </a:pPr>
                      <a:r>
                        <a:rPr/>
                        <a:t>남부 및 타 동남아 공통</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베트남인들에게 껌판과 퍼는 가장 친숙한 한 끼 식사입니다. 껌판은 다양한 반찬과 함께 밥을 먹는 문화이며, 퍼는 늑맘으로 간을 맞추고 고추, 라임, 숙주 등 취향에 맞는 식재료를 첨가하여 풍부한 맛을 즐기는 요리입니다. 쌀국수를 먹을 때는 그릇째 들고 마시지 않고 작은 접시에 덜어 먹는 것이 현지 관습입니다.</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4페이지: 라이스 페이퍼(반짱)와 바게트(반미)</a:t>
            </a:r>
          </a:p>
        </p:txBody>
      </p:sp>
      <p:sp>
        <p:nvSpPr>
          <p:cNvPr id="4" name="Text Placeholder 3"/>
          <p:cNvSpPr>
            <a:spLocks noGrp="1"/>
          </p:cNvSpPr>
          <p:nvPr>
            <p:ph idx="2" sz="half" type="body"/>
          </p:nvPr>
        </p:nvSpPr>
        <p:spPr/>
        <p:txBody>
          <a:bodyPr/>
          <a:lstStyle/>
          <a:p>
            <a:pPr lvl="0"/>
            <a:r>
              <a:rPr b="1"/>
              <a:t>‘반짱’은 라이스 페이퍼를 의미하며 베트남에서는 물에 적셔 채소와 고기를 싸 먹는 ’고이꾸온’ 형태나 기름에 튀기는 ‘짜조’ 등 조리법이 매우 다양함.</a:t>
            </a:r>
          </a:p>
          <a:p>
            <a:pPr lvl="0"/>
            <a:r>
              <a:rPr b="1"/>
              <a:t>다른 동남아 국가들이 주로 튀겨 먹는 것과 달리 베트남은 물에 적신 생 라이스 페이퍼를 그대로 사용하는 방식이 발달하여 신선함을 강조함.</a:t>
            </a:r>
          </a:p>
          <a:p>
            <a:pPr lvl="0"/>
            <a:r>
              <a:rPr b="1"/>
              <a:t>라이스 페이퍼 요리를 먹을 때는 기본 양념으로 젓갈 형태인 ’맘’을 사용하거나 베트남 전통 생선 소스인 ’늑맘’에 찍어 먹는 것이 일반적임.</a:t>
            </a:r>
          </a:p>
          <a:p>
            <a:pPr lvl="0"/>
            <a:r>
              <a:rPr b="1"/>
              <a:t>’반미’는 프랑스 식민 시절의 영향으로 탄생한 베트남식 바게트 샌드위치로 햄, 채소, 오이 피클 등을 넣어 동서양의 맛이 조화롭게 어우러짐.</a:t>
            </a:r>
          </a:p>
          <a:p>
            <a:pPr lvl="0"/>
            <a:r>
              <a:rPr b="1"/>
              <a:t>반미는 베트남뿐만 아니라 프랑스의 영향을 받은 라오스나 캄보디아에서도 보편적인 간식으로 자리 잡았으며 전 세계적으로 사랑받는 거리 음식임.</a:t>
            </a:r>
          </a:p>
          <a:p>
            <a:pPr lvl="0" indent="0" marL="0">
              <a:buNone/>
            </a:pPr>
            <a:r>
              <a:rPr b="1"/>
              <a:t>라이스 페이퍼 요리의 명칭 구분</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명칭</a:t>
                      </a:r>
                    </a:p>
                  </a:txBody>
                  <a:tcPr/>
                </a:tc>
                <a:tc>
                  <a:txBody>
                    <a:bodyPr/>
                    <a:lstStyle/>
                    <a:p>
                      <a:pPr lvl="0" indent="0" marL="0" algn="l">
                        <a:buNone/>
                      </a:pPr>
                      <a:r>
                        <a:rPr/>
                        <a:t>조리 방식</a:t>
                      </a:r>
                    </a:p>
                  </a:txBody>
                  <a:tcPr/>
                </a:tc>
                <a:tc>
                  <a:txBody>
                    <a:bodyPr/>
                    <a:lstStyle/>
                    <a:p>
                      <a:pPr lvl="0" indent="0" marL="0" algn="l">
                        <a:buNone/>
                      </a:pPr>
                      <a:r>
                        <a:rPr/>
                        <a:t>특징</a:t>
                      </a:r>
                    </a:p>
                  </a:txBody>
                  <a:tcPr/>
                </a:tc>
              </a:tr>
              <a:tr h="0">
                <a:tc>
                  <a:txBody>
                    <a:bodyPr/>
                    <a:lstStyle/>
                    <a:p>
                      <a:pPr lvl="0" indent="0" marL="0" algn="l">
                        <a:buNone/>
                      </a:pPr>
                      <a:r>
                        <a:rPr b="1"/>
                        <a:t>고이꾸온 (Gỏi cuốn)</a:t>
                      </a:r>
                    </a:p>
                  </a:txBody>
                </a:tc>
                <a:tc>
                  <a:txBody>
                    <a:bodyPr/>
                    <a:lstStyle/>
                    <a:p>
                      <a:pPr lvl="0" indent="0" marL="0" algn="l">
                        <a:buNone/>
                      </a:pPr>
                      <a:r>
                        <a:rPr/>
                        <a:t>생 페이퍼 사용</a:t>
                      </a:r>
                    </a:p>
                  </a:txBody>
                </a:tc>
                <a:tc>
                  <a:txBody>
                    <a:bodyPr/>
                    <a:lstStyle/>
                    <a:p>
                      <a:pPr lvl="0" indent="0" marL="0" algn="l">
                        <a:buNone/>
                      </a:pPr>
                      <a:r>
                        <a:rPr/>
                        <a:t>신선한 채소와 새우, 고기를 물에 적신 페이퍼로 감쌈</a:t>
                      </a:r>
                    </a:p>
                  </a:txBody>
                </a:tc>
              </a:tr>
              <a:tr h="0">
                <a:tc>
                  <a:txBody>
                    <a:bodyPr/>
                    <a:lstStyle/>
                    <a:p>
                      <a:pPr lvl="0" indent="0" marL="0" algn="l">
                        <a:buNone/>
                      </a:pPr>
                      <a:r>
                        <a:rPr b="1"/>
                        <a:t>짜조 (Chả giò)</a:t>
                      </a:r>
                    </a:p>
                  </a:txBody>
                </a:tc>
                <a:tc>
                  <a:txBody>
                    <a:bodyPr/>
                    <a:lstStyle/>
                    <a:p>
                      <a:pPr lvl="0" indent="0" marL="0" algn="l">
                        <a:buNone/>
                      </a:pPr>
                      <a:r>
                        <a:rPr/>
                        <a:t>기름에 튀김</a:t>
                      </a:r>
                    </a:p>
                  </a:txBody>
                </a:tc>
                <a:tc>
                  <a:txBody>
                    <a:bodyPr/>
                    <a:lstStyle/>
                    <a:p>
                      <a:pPr lvl="0" indent="0" marL="0" algn="l">
                        <a:buNone/>
                      </a:pPr>
                      <a:r>
                        <a:rPr/>
                        <a:t>다진 고기와 채소를 넣어 튀김 (남부 명칭)</a:t>
                      </a:r>
                    </a:p>
                  </a:txBody>
                </a:tc>
              </a:tr>
              <a:tr h="0">
                <a:tc>
                  <a:txBody>
                    <a:bodyPr/>
                    <a:lstStyle/>
                    <a:p>
                      <a:pPr lvl="0" indent="0" marL="0" algn="l">
                        <a:buNone/>
                      </a:pPr>
                      <a:r>
                        <a:rPr b="1"/>
                        <a:t>넴 (Nem)</a:t>
                      </a:r>
                    </a:p>
                  </a:txBody>
                </a:tc>
                <a:tc>
                  <a:txBody>
                    <a:bodyPr/>
                    <a:lstStyle/>
                    <a:p>
                      <a:pPr lvl="0" indent="0" marL="0" algn="l">
                        <a:buNone/>
                      </a:pPr>
                      <a:r>
                        <a:rPr/>
                        <a:t>기름에 튀김</a:t>
                      </a:r>
                    </a:p>
                  </a:txBody>
                </a:tc>
                <a:tc>
                  <a:txBody>
                    <a:bodyPr/>
                    <a:lstStyle/>
                    <a:p>
                      <a:pPr lvl="0" indent="0" marL="0" algn="l">
                        <a:buNone/>
                      </a:pPr>
                      <a:r>
                        <a:rPr/>
                        <a:t>북부 지역에서 짜조를 부르는 명칭</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프랑스의 빵 문화와 베트남의 식재료가 결합한 반미는 베트남 음식의 융합적인 특징을 가장 잘 보여주는 사례입니다. 또한 반짱을 활용한 다양한 쌈 요리는 베트남인들의 식탁에 풍성함을 더하며, 특히 발효된 맘 소스와의 궁합은 현지인들이 가장 선호하는 풍미를 만들어냅니다.</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5페이지: 베트남의 육류 및 생선 요리 특징</a:t>
            </a:r>
          </a:p>
        </p:txBody>
      </p:sp>
      <p:sp>
        <p:nvSpPr>
          <p:cNvPr id="4" name="Text Placeholder 3"/>
          <p:cNvSpPr>
            <a:spLocks noGrp="1"/>
          </p:cNvSpPr>
          <p:nvPr>
            <p:ph idx="2" sz="half" type="body"/>
          </p:nvPr>
        </p:nvSpPr>
        <p:spPr/>
        <p:txBody>
          <a:bodyPr/>
          <a:lstStyle/>
          <a:p>
            <a:pPr lvl="0"/>
            <a:r>
              <a:rPr b="1"/>
              <a:t>전통 시대에는 농경 사회의 특성상 소를 귀하게 여겨 육류 섭취를 극히 자제하였으며 마을 회관 행사가 있는 특별한 날에만 소량 섭취하는 문화 보유.</a:t>
            </a:r>
          </a:p>
          <a:p>
            <a:pPr lvl="0"/>
            <a:r>
              <a:rPr b="1"/>
              <a:t>최근에는 기업형 축산업의 발달로 돼지, 닭, 오리 등을 대량 사육하여 일상적인 육류 소비가 증가하였으나 소고기는 여전히 상대적으로 적게 소비됨.</a:t>
            </a:r>
          </a:p>
          <a:p>
            <a:pPr lvl="0"/>
            <a:r>
              <a:rPr b="1"/>
              <a:t>베트남의 소는 주로 농사일에 활용되는 물소로 육질이 질긴 편이나, 고산 지대인 달랏 지역에서 사육되는 소는 식용으로 널리 인정받고 있음.</a:t>
            </a:r>
          </a:p>
          <a:p>
            <a:pPr lvl="0"/>
            <a:r>
              <a:rPr b="1"/>
              <a:t>단백질 보충을 위해 개고기를 섭취하기도 하며 제사나 생일 같은 특별한 날에 손님을 초대하여 수육 형태로 대접하는 것이 전통적인 관습임.</a:t>
            </a:r>
          </a:p>
          <a:p>
            <a:pPr lvl="0"/>
            <a:r>
              <a:rPr b="1"/>
              <a:t>3,260km에 달하는 긴 해안선과 2,800여 개의 강을 보유한 수산 강국으로 연간 20만 톤 이상의 풍부한 수산물을 생산하며 민물고기 선호도가 높음.</a:t>
            </a:r>
          </a:p>
          <a:p>
            <a:pPr lvl="0" indent="0" marL="0">
              <a:buNone/>
            </a:pPr>
            <a:r>
              <a:rPr b="1"/>
              <a:t>베트남 주요 육류 및 해산물 소비 현황</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구분</a:t>
                      </a:r>
                    </a:p>
                  </a:txBody>
                  <a:tcPr/>
                </a:tc>
                <a:tc>
                  <a:txBody>
                    <a:bodyPr/>
                    <a:lstStyle/>
                    <a:p>
                      <a:pPr lvl="0" indent="0" marL="0" algn="l">
                        <a:buNone/>
                      </a:pPr>
                      <a:r>
                        <a:rPr/>
                        <a:t>주요 품목</a:t>
                      </a:r>
                    </a:p>
                  </a:txBody>
                  <a:tcPr/>
                </a:tc>
                <a:tc>
                  <a:txBody>
                    <a:bodyPr/>
                    <a:lstStyle/>
                    <a:p>
                      <a:pPr lvl="0" indent="0" marL="0" algn="l">
                        <a:buNone/>
                      </a:pPr>
                      <a:r>
                        <a:rPr/>
                        <a:t>특징 및 문화적 배경</a:t>
                      </a:r>
                    </a:p>
                  </a:txBody>
                  <a:tcPr/>
                </a:tc>
              </a:tr>
              <a:tr h="0">
                <a:tc>
                  <a:txBody>
                    <a:bodyPr/>
                    <a:lstStyle/>
                    <a:p>
                      <a:pPr lvl="0" indent="0" marL="0" algn="l">
                        <a:buNone/>
                      </a:pPr>
                      <a:r>
                        <a:rPr b="1"/>
                        <a:t>육류</a:t>
                      </a:r>
                    </a:p>
                  </a:txBody>
                </a:tc>
                <a:tc>
                  <a:txBody>
                    <a:bodyPr/>
                    <a:lstStyle/>
                    <a:p>
                      <a:pPr lvl="0" indent="0" marL="0" algn="l">
                        <a:buNone/>
                      </a:pPr>
                      <a:r>
                        <a:rPr/>
                        <a:t>돼지, 닭, 오리, 개</a:t>
                      </a:r>
                    </a:p>
                  </a:txBody>
                </a:tc>
                <a:tc>
                  <a:txBody>
                    <a:bodyPr/>
                    <a:lstStyle/>
                    <a:p>
                      <a:pPr lvl="0" indent="0" marL="0" algn="l">
                        <a:buNone/>
                      </a:pPr>
                      <a:r>
                        <a:rPr/>
                        <a:t>일상적 단백질원, 개고기는 특별한 기념일에 섭취함</a:t>
                      </a:r>
                    </a:p>
                  </a:txBody>
                </a:tc>
              </a:tr>
              <a:tr h="0">
                <a:tc>
                  <a:txBody>
                    <a:bodyPr/>
                    <a:lstStyle/>
                    <a:p>
                      <a:pPr lvl="0" indent="0" marL="0" algn="l">
                        <a:buNone/>
                      </a:pPr>
                      <a:r>
                        <a:rPr b="1"/>
                        <a:t>소고기</a:t>
                      </a:r>
                    </a:p>
                  </a:txBody>
                </a:tc>
                <a:tc>
                  <a:txBody>
                    <a:bodyPr/>
                    <a:lstStyle/>
                    <a:p>
                      <a:pPr lvl="0" indent="0" marL="0" algn="l">
                        <a:buNone/>
                      </a:pPr>
                      <a:r>
                        <a:rPr/>
                        <a:t>물소, 달랏소</a:t>
                      </a:r>
                    </a:p>
                  </a:txBody>
                </a:tc>
                <a:tc>
                  <a:txBody>
                    <a:bodyPr/>
                    <a:lstStyle/>
                    <a:p>
                      <a:pPr lvl="0" indent="0" marL="0" algn="l">
                        <a:buNone/>
                      </a:pPr>
                      <a:r>
                        <a:rPr/>
                        <a:t>농경 문화 영향으로 소비 적음, 달랏산이 우수함</a:t>
                      </a:r>
                    </a:p>
                  </a:txBody>
                </a:tc>
              </a:tr>
              <a:tr h="0">
                <a:tc>
                  <a:txBody>
                    <a:bodyPr/>
                    <a:lstStyle/>
                    <a:p>
                      <a:pPr lvl="0" indent="0" marL="0" algn="l">
                        <a:buNone/>
                      </a:pPr>
                      <a:r>
                        <a:rPr b="1"/>
                        <a:t>수산물</a:t>
                      </a:r>
                    </a:p>
                  </a:txBody>
                </a:tc>
                <a:tc>
                  <a:txBody>
                    <a:bodyPr/>
                    <a:lstStyle/>
                    <a:p>
                      <a:pPr lvl="0" indent="0" marL="0" algn="l">
                        <a:buNone/>
                      </a:pPr>
                      <a:r>
                        <a:rPr/>
                        <a:t>민물새우, 게, 생선</a:t>
                      </a:r>
                    </a:p>
                  </a:txBody>
                </a:tc>
                <a:tc>
                  <a:txBody>
                    <a:bodyPr/>
                    <a:lstStyle/>
                    <a:p>
                      <a:pPr lvl="0" indent="0" marL="0" algn="l">
                        <a:buNone/>
                      </a:pPr>
                      <a:r>
                        <a:rPr/>
                        <a:t>긴 해안선과 강 덕분에 매우 풍부함, 민물산 선호</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베트남의 식문화는 환경에 적응하며 발전해 왔습니다. 부족한 단백질을 보충하기 위해 각종 곤충이나 벌레 요리가 발달하기도 했으며, 풍부한 강과 바다의 자원을 활용한 생선 요리는 베트남인의 장수 비결로 꼽히기도 합니다. 특히 해산물보다는 내륙의 민물고기와 갑각류를 더 선호하는 독특한 입맛을 지니고 있습니다.</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6페이지: 베트남의 디저트와 음료 문화</a:t>
            </a:r>
          </a:p>
        </p:txBody>
      </p:sp>
      <p:sp>
        <p:nvSpPr>
          <p:cNvPr id="4" name="Text Placeholder 3"/>
          <p:cNvSpPr>
            <a:spLocks noGrp="1"/>
          </p:cNvSpPr>
          <p:nvPr>
            <p:ph idx="2" sz="half" type="body"/>
          </p:nvPr>
        </p:nvSpPr>
        <p:spPr/>
        <p:txBody>
          <a:bodyPr/>
          <a:lstStyle/>
          <a:p>
            <a:pPr lvl="0"/>
            <a:r>
              <a:rPr b="1"/>
              <a:t>프랑스의 영향으로 진한 농도의 커피를 선호하며 설탕이나 프림 대신 연유를 듬뿍 넣어 마시는 베트남식 커피 문화가 매우 독특하게 발달함.</a:t>
            </a:r>
          </a:p>
          <a:p>
            <a:pPr lvl="0"/>
            <a:r>
              <a:rPr b="1"/>
              <a:t>베트남은 세계적인 커피 생산국으로 현지인들은 길거리 카페에서 연유를 넣은 카페 쓰아다 등을 즐기며 사교 활동을 하는 것이 일상의 풍경임.</a:t>
            </a:r>
          </a:p>
          <a:p>
            <a:pPr lvl="0"/>
            <a:r>
              <a:rPr b="1"/>
              <a:t>차 문화 또한 발달하여 람동 지역의 일반 녹차와 고급 차인 타이구엔 등이 널리 소비되며 식사 후나 손님 접대 시 필수적으로 제공되는 음료임.</a:t>
            </a:r>
          </a:p>
          <a:p>
            <a:pPr lvl="0"/>
            <a:r>
              <a:rPr b="1"/>
              <a:t>’쩨(Chè)’는 단팥, 콩, 쌀 등 각종 곡물을 듬뿍 넣어 만든 베트남식 전통 음료 또는 푸딩으로 달콤한 맛 덕분에 특히 학생들에게 인기가 많음.</a:t>
            </a:r>
          </a:p>
          <a:p>
            <a:pPr lvl="0"/>
            <a:r>
              <a:rPr b="1"/>
              <a:t>과일이 풍부한 기후 덕분에 신선한 열대 과일을 활용한 주스나 빙수 형태의 디저트도 저렴한 가격에 다양하게 즐길 수 있는 환경이 조성되어 있음.</a:t>
            </a:r>
          </a:p>
          <a:p>
            <a:pPr lvl="0" indent="0" marL="0">
              <a:buNone/>
            </a:pPr>
            <a:r>
              <a:rPr b="1"/>
              <a:t>베트남의 주요 음료 종류</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구분</a:t>
                      </a:r>
                    </a:p>
                  </a:txBody>
                  <a:tcPr/>
                </a:tc>
                <a:tc>
                  <a:txBody>
                    <a:bodyPr/>
                    <a:lstStyle/>
                    <a:p>
                      <a:pPr lvl="0" indent="0" marL="0" algn="l">
                        <a:buNone/>
                      </a:pPr>
                      <a:r>
                        <a:rPr/>
                        <a:t>명칭</a:t>
                      </a:r>
                    </a:p>
                  </a:txBody>
                  <a:tcPr/>
                </a:tc>
                <a:tc>
                  <a:txBody>
                    <a:bodyPr/>
                    <a:lstStyle/>
                    <a:p>
                      <a:pPr lvl="0" indent="0" marL="0" algn="l">
                        <a:buNone/>
                      </a:pPr>
                      <a:r>
                        <a:rPr/>
                        <a:t>특징</a:t>
                      </a:r>
                    </a:p>
                  </a:txBody>
                  <a:tcPr/>
                </a:tc>
              </a:tr>
              <a:tr h="0">
                <a:tc>
                  <a:txBody>
                    <a:bodyPr/>
                    <a:lstStyle/>
                    <a:p>
                      <a:pPr lvl="0" indent="0" marL="0" algn="l">
                        <a:buNone/>
                      </a:pPr>
                      <a:r>
                        <a:rPr b="1"/>
                        <a:t>커피</a:t>
                      </a:r>
                    </a:p>
                  </a:txBody>
                </a:tc>
                <a:tc>
                  <a:txBody>
                    <a:bodyPr/>
                    <a:lstStyle/>
                    <a:p>
                      <a:pPr lvl="0" indent="0" marL="0" algn="l">
                        <a:buNone/>
                      </a:pPr>
                      <a:r>
                        <a:rPr/>
                        <a:t>카페 쓰아 (Cà phê sữa)</a:t>
                      </a:r>
                    </a:p>
                  </a:txBody>
                </a:tc>
                <a:tc>
                  <a:txBody>
                    <a:bodyPr/>
                    <a:lstStyle/>
                    <a:p>
                      <a:pPr lvl="0" indent="0" marL="0" algn="l">
                        <a:buNone/>
                      </a:pPr>
                      <a:r>
                        <a:rPr/>
                        <a:t>연유를 넣은 진한 커피 (프랑스 영향)</a:t>
                      </a:r>
                    </a:p>
                  </a:txBody>
                </a:tc>
              </a:tr>
              <a:tr h="0">
                <a:tc>
                  <a:txBody>
                    <a:bodyPr/>
                    <a:lstStyle/>
                    <a:p>
                      <a:pPr lvl="0" indent="0" marL="0" algn="l">
                        <a:buNone/>
                      </a:pPr>
                      <a:r>
                        <a:rPr b="1"/>
                        <a:t>차(茶)</a:t>
                      </a:r>
                    </a:p>
                  </a:txBody>
                </a:tc>
                <a:tc>
                  <a:txBody>
                    <a:bodyPr/>
                    <a:lstStyle/>
                    <a:p>
                      <a:pPr lvl="0" indent="0" marL="0" algn="l">
                        <a:buNone/>
                      </a:pPr>
                      <a:r>
                        <a:rPr/>
                        <a:t>타이구엔 (Thái Nguyên)</a:t>
                      </a:r>
                    </a:p>
                  </a:txBody>
                </a:tc>
                <a:tc>
                  <a:txBody>
                    <a:bodyPr/>
                    <a:lstStyle/>
                    <a:p>
                      <a:pPr lvl="0" indent="0" marL="0" algn="l">
                        <a:buNone/>
                      </a:pPr>
                      <a:r>
                        <a:rPr/>
                        <a:t>베트남의 대표적인 고급 녹차 브랜드</a:t>
                      </a:r>
                    </a:p>
                  </a:txBody>
                </a:tc>
              </a:tr>
              <a:tr h="0">
                <a:tc>
                  <a:txBody>
                    <a:bodyPr/>
                    <a:lstStyle/>
                    <a:p>
                      <a:pPr lvl="0" indent="0" marL="0" algn="l">
                        <a:buNone/>
                      </a:pPr>
                      <a:r>
                        <a:rPr b="1"/>
                        <a:t>디저트</a:t>
                      </a:r>
                    </a:p>
                  </a:txBody>
                </a:tc>
                <a:tc>
                  <a:txBody>
                    <a:bodyPr/>
                    <a:lstStyle/>
                    <a:p>
                      <a:pPr lvl="0" indent="0" marL="0" algn="l">
                        <a:buNone/>
                      </a:pPr>
                      <a:r>
                        <a:rPr/>
                        <a:t>쩨 (Chè)</a:t>
                      </a:r>
                    </a:p>
                  </a:txBody>
                </a:tc>
                <a:tc>
                  <a:txBody>
                    <a:bodyPr/>
                    <a:lstStyle/>
                    <a:p>
                      <a:pPr lvl="0" indent="0" marL="0" algn="l">
                        <a:buNone/>
                      </a:pPr>
                      <a:r>
                        <a:rPr/>
                        <a:t>곡물과 코너넛 우유 등을 섞은 달콤한 간식</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베트남의 디저트 문화는 현지의 풍부한 농산물과 외래 문화가 결합하여 독자적인 영역을 구축했습니다. 특히 연유를 활용한 커피 조리법은 덥고 습한 기후에서 에너지를 보충하고 쓴맛을 중화시키는 지혜가 담겨 있습니다. 쩨와 같은 전통 간식은 현대적으로 변모하여 젊은 층의 입맛까지 사로잡고 있습니다.</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7페이지: 지역별 대표 음식과 특징</a:t>
            </a:r>
          </a:p>
        </p:txBody>
      </p:sp>
      <p:sp>
        <p:nvSpPr>
          <p:cNvPr id="4" name="Text Placeholder 3"/>
          <p:cNvSpPr>
            <a:spLocks noGrp="1"/>
          </p:cNvSpPr>
          <p:nvPr>
            <p:ph idx="2" sz="half" type="body"/>
          </p:nvPr>
        </p:nvSpPr>
        <p:spPr/>
        <p:txBody>
          <a:bodyPr/>
          <a:lstStyle/>
          <a:p>
            <a:pPr lvl="0"/>
            <a:r>
              <a:rPr b="1"/>
              <a:t>중부 도시 호이안은 일본의 영향으로 유래된 비빔국수인 ‘까오라우’와 완탕 형태의 ’호안탄’, 물만두인 ’화이트 로즈’가 가장 유명한 명물 요리임.</a:t>
            </a:r>
          </a:p>
          <a:p>
            <a:pPr lvl="0"/>
            <a:r>
              <a:rPr b="1"/>
              <a:t>옛 왕조의 수도였던 후에는 왕실 음식의 전통이 남아 있어 매운 칼국수인 ‘분보후에’와 고기 완자를 채소와 싸 먹는 ’넴루이’ 등이 발달함.</a:t>
            </a:r>
          </a:p>
          <a:p>
            <a:pPr lvl="0"/>
            <a:r>
              <a:rPr b="1"/>
              <a:t>후에의 ’반코아이’는 바삭하게 튀겨낸 베트남식 부침 요리로 화려한 색감과 풍성한 식재료를 사용하여 보는 재미와 먹는 재미를 동시에 제공함.</a:t>
            </a:r>
          </a:p>
          <a:p>
            <a:pPr lvl="0"/>
            <a:r>
              <a:rPr b="1"/>
              <a:t>북부 하노이는 쌀국수의 본고장답게 담백하고 깊은 육수의 맛을 강조하는 반면, 남부 호찌민은 달콤하고 향신료를 풍부하게 사용하는 경향을 보임.</a:t>
            </a:r>
          </a:p>
          <a:p>
            <a:pPr lvl="0"/>
            <a:r>
              <a:rPr b="1"/>
              <a:t>지역별 지형과 기후, 그리고 과거 역사적 교류 흔적에 따라 식재료의 활용법이 달라지며 이는 베트남 전역을 여행하는 미식가들에게 큰 즐거움을 선사함.</a:t>
            </a:r>
          </a:p>
          <a:p>
            <a:pPr lvl="0" indent="0" marL="0">
              <a:buNone/>
            </a:pPr>
            <a:r>
              <a:rPr b="1"/>
              <a:t>주요 도시별 대표 음식 요약</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도시</a:t>
                      </a:r>
                    </a:p>
                  </a:txBody>
                  <a:tcPr/>
                </a:tc>
                <a:tc>
                  <a:txBody>
                    <a:bodyPr/>
                    <a:lstStyle/>
                    <a:p>
                      <a:pPr lvl="0" indent="0" marL="0" algn="l">
                        <a:buNone/>
                      </a:pPr>
                      <a:r>
                        <a:rPr/>
                        <a:t>음식명</a:t>
                      </a:r>
                    </a:p>
                  </a:txBody>
                  <a:tcPr/>
                </a:tc>
                <a:tc>
                  <a:txBody>
                    <a:bodyPr/>
                    <a:lstStyle/>
                    <a:p>
                      <a:pPr lvl="0" indent="0" marL="0" algn="l">
                        <a:buNone/>
                      </a:pPr>
                      <a:r>
                        <a:rPr/>
                        <a:t>특징</a:t>
                      </a:r>
                    </a:p>
                  </a:txBody>
                  <a:tcPr/>
                </a:tc>
              </a:tr>
              <a:tr h="0">
                <a:tc>
                  <a:txBody>
                    <a:bodyPr/>
                    <a:lstStyle/>
                    <a:p>
                      <a:pPr lvl="0" indent="0" marL="0" algn="l">
                        <a:buNone/>
                      </a:pPr>
                      <a:r>
                        <a:rPr b="1"/>
                        <a:t>호이안</a:t>
                      </a:r>
                    </a:p>
                  </a:txBody>
                </a:tc>
                <a:tc>
                  <a:txBody>
                    <a:bodyPr/>
                    <a:lstStyle/>
                    <a:p>
                      <a:pPr lvl="0" indent="0" marL="0" algn="l">
                        <a:buNone/>
                      </a:pPr>
                      <a:r>
                        <a:rPr/>
                        <a:t>까오라우, 화이트로즈</a:t>
                      </a:r>
                    </a:p>
                  </a:txBody>
                </a:tc>
                <a:tc>
                  <a:txBody>
                    <a:bodyPr/>
                    <a:lstStyle/>
                    <a:p>
                      <a:pPr lvl="0" indent="0" marL="0" algn="l">
                        <a:buNone/>
                      </a:pPr>
                      <a:r>
                        <a:rPr/>
                        <a:t>일본 및 중국 문화 융합, 독특한 면발과 만두</a:t>
                      </a:r>
                    </a:p>
                  </a:txBody>
                </a:tc>
              </a:tr>
              <a:tr h="0">
                <a:tc>
                  <a:txBody>
                    <a:bodyPr/>
                    <a:lstStyle/>
                    <a:p>
                      <a:pPr lvl="0" indent="0" marL="0" algn="l">
                        <a:buNone/>
                      </a:pPr>
                      <a:r>
                        <a:rPr b="1"/>
                        <a:t>후에</a:t>
                      </a:r>
                    </a:p>
                  </a:txBody>
                </a:tc>
                <a:tc>
                  <a:txBody>
                    <a:bodyPr/>
                    <a:lstStyle/>
                    <a:p>
                      <a:pPr lvl="0" indent="0" marL="0" algn="l">
                        <a:buNone/>
                      </a:pPr>
                      <a:r>
                        <a:rPr/>
                        <a:t>분보후에, 넴루이</a:t>
                      </a:r>
                    </a:p>
                  </a:txBody>
                </a:tc>
                <a:tc>
                  <a:txBody>
                    <a:bodyPr/>
                    <a:lstStyle/>
                    <a:p>
                      <a:pPr lvl="0" indent="0" marL="0" algn="l">
                        <a:buNone/>
                      </a:pPr>
                      <a:r>
                        <a:rPr/>
                        <a:t>매콤한 맛, 정갈한 왕실 요리의 전통 계승</a:t>
                      </a:r>
                    </a:p>
                  </a:txBody>
                </a:tc>
              </a:tr>
              <a:tr h="0">
                <a:tc>
                  <a:txBody>
                    <a:bodyPr/>
                    <a:lstStyle/>
                    <a:p>
                      <a:pPr lvl="0" indent="0" marL="0" algn="l">
                        <a:buNone/>
                      </a:pPr>
                      <a:r>
                        <a:rPr b="1"/>
                        <a:t>하노이</a:t>
                      </a:r>
                    </a:p>
                  </a:txBody>
                </a:tc>
                <a:tc>
                  <a:txBody>
                    <a:bodyPr/>
                    <a:lstStyle/>
                    <a:p>
                      <a:pPr lvl="0" indent="0" marL="0" algn="l">
                        <a:buNone/>
                      </a:pPr>
                      <a:r>
                        <a:rPr/>
                        <a:t>퍼보 (쇠고기 쌀국수)</a:t>
                      </a:r>
                    </a:p>
                  </a:txBody>
                </a:tc>
                <a:tc>
                  <a:txBody>
                    <a:bodyPr/>
                    <a:lstStyle/>
                    <a:p>
                      <a:pPr lvl="0" indent="0" marL="0" algn="l">
                        <a:buNone/>
                      </a:pPr>
                      <a:r>
                        <a:rPr/>
                        <a:t>담백하고 전통적인 북부식 육수의 진수</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베트남의 지역 음식은 각 도시의 역사를 고스란히 담고 있습니다. 호이안의 까오라우는 과거 무역항으로서 일본 상인들의 영향을 받았음을 보여주며, 후에의 분보후에는 중부 지역 특유의 매운맛 선호를 반영합니다. 이러한 지역별 특색은 베트남 음식이 세계적으로 다양성을 인정받는 이유가 됩니다.</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8페이지: 베트남 음식 관련 필수 어휘 (Table 1)</a:t>
            </a:r>
          </a:p>
        </p:txBody>
      </p:sp>
      <p:sp>
        <p:nvSpPr>
          <p:cNvPr id="4" name="Text Placeholder 3"/>
          <p:cNvSpPr>
            <a:spLocks noGrp="1"/>
          </p:cNvSpPr>
          <p:nvPr>
            <p:ph idx="2" sz="half" type="body"/>
          </p:nvPr>
        </p:nvSpPr>
        <p:spPr/>
        <p:txBody>
          <a:bodyPr/>
          <a:lstStyle/>
          <a:p>
            <a:pPr lvl="0"/>
            <a:r>
              <a:rPr b="1"/>
              <a:t>육류 관련 어휘로는 쇠고기(Bo), 돼지고기(Heo), 닭고기(Ga) 등이 있으며 특이하게 개구리(Ech)나 사슴고기(Nai) 등도 메뉴판에서 찾아볼 수 있음.</a:t>
            </a:r>
          </a:p>
          <a:p>
            <a:pPr lvl="0"/>
            <a:r>
              <a:rPr b="1"/>
              <a:t>해산물 어휘는 생선(Ca), 새우(Tom), 게(Cua)를 기본으로 오징어(Muc), 뱀장어(Luon), 굴(So), 우렁이(Oc) 등이 있어 주문 시 유용하게 활용 가능함.</a:t>
            </a:r>
          </a:p>
          <a:p>
            <a:pPr lvl="0"/>
            <a:r>
              <a:rPr b="1"/>
              <a:t>야채와 식재료 명칭인 두부(Dau phu), 숙주(Gia), 고추(Ot), 마늘(Toi), 코코넛(Dua) 등을 익혀두면 본인의 취향에 맞는 음식 선택이 수월해짐.</a:t>
            </a:r>
          </a:p>
          <a:p>
            <a:pPr lvl="0"/>
            <a:r>
              <a:rPr b="1"/>
              <a:t>국수 종류에 따라 쌀국수인 분과 퍼, 라면 형태의 미, 당면 형태의 미엔 등으로 구분되므로 면의 식감에 따라 원하는 요리를 정확히 주문할 수 있음.</a:t>
            </a:r>
          </a:p>
          <a:p>
            <a:pPr lvl="0"/>
            <a:r>
              <a:rPr b="1"/>
              <a:t>조리법을 나타내는 단어인 찌개(Canh), 찜(Hap), 삶음(Luoc), 구이(Nuong), 볶음(Rang/Xao), 전골(Lau) 등은 메뉴의 형태를 파악하는 핵심 정보임.</a:t>
            </a:r>
          </a:p>
          <a:p>
            <a:pPr lvl="0" indent="0" marL="0">
              <a:buNone/>
            </a:pPr>
            <a:r>
              <a:rPr b="1"/>
              <a:t>표 1: 베트남 식당 이용을 위한 주요 단어 일람표</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분류</a:t>
                      </a:r>
                    </a:p>
                  </a:txBody>
                  <a:tcPr/>
                </a:tc>
                <a:tc>
                  <a:txBody>
                    <a:bodyPr/>
                    <a:lstStyle/>
                    <a:p>
                      <a:pPr lvl="0" indent="0" marL="0" algn="l">
                        <a:buNone/>
                      </a:pPr>
                      <a:r>
                        <a:rPr/>
                        <a:t>베트남어 (한국어 의미)</a:t>
                      </a:r>
                    </a:p>
                  </a:txBody>
                  <a:tcPr/>
                </a:tc>
                <a:tc>
                  <a:txBody>
                    <a:bodyPr/>
                    <a:lstStyle/>
                    <a:p>
                      <a:pPr lvl="0" indent="0" marL="0" algn="l">
                        <a:buNone/>
                      </a:pPr>
                      <a:r>
                        <a:rPr/>
                        <a:t>분류</a:t>
                      </a:r>
                    </a:p>
                  </a:txBody>
                  <a:tcPr/>
                </a:tc>
                <a:tc>
                  <a:txBody>
                    <a:bodyPr/>
                    <a:lstStyle/>
                    <a:p>
                      <a:pPr lvl="0" indent="0" marL="0" algn="l">
                        <a:buNone/>
                      </a:pPr>
                      <a:r>
                        <a:rPr/>
                        <a:t>베트남어 (한국어 의미)</a:t>
                      </a:r>
                    </a:p>
                  </a:txBody>
                  <a:tcPr/>
                </a:tc>
              </a:tr>
              <a:tr h="0">
                <a:tc>
                  <a:txBody>
                    <a:bodyPr/>
                    <a:lstStyle/>
                    <a:p>
                      <a:pPr lvl="0" indent="0" marL="0" algn="l">
                        <a:buNone/>
                      </a:pPr>
                      <a:r>
                        <a:rPr b="1"/>
                        <a:t>육류</a:t>
                      </a:r>
                    </a:p>
                  </a:txBody>
                </a:tc>
                <a:tc>
                  <a:txBody>
                    <a:bodyPr/>
                    <a:lstStyle/>
                    <a:p>
                      <a:pPr lvl="0" indent="0" marL="0" algn="l">
                        <a:buNone/>
                      </a:pPr>
                      <a:r>
                        <a:rPr/>
                        <a:t>Bò(소), Heo(돼지), Gà(닭)</a:t>
                      </a:r>
                    </a:p>
                  </a:txBody>
                </a:tc>
                <a:tc>
                  <a:txBody>
                    <a:bodyPr/>
                    <a:lstStyle/>
                    <a:p>
                      <a:pPr lvl="0" indent="0" marL="0" algn="l">
                        <a:buNone/>
                      </a:pPr>
                      <a:r>
                        <a:rPr b="1"/>
                        <a:t>조리법</a:t>
                      </a:r>
                    </a:p>
                  </a:txBody>
                </a:tc>
                <a:tc>
                  <a:txBody>
                    <a:bodyPr/>
                    <a:lstStyle/>
                    <a:p>
                      <a:pPr lvl="0" indent="0" marL="0" algn="l">
                        <a:buNone/>
                      </a:pPr>
                      <a:r>
                        <a:rPr/>
                        <a:t>Nướng(구이), Xào(볶음)</a:t>
                      </a:r>
                    </a:p>
                  </a:txBody>
                </a:tc>
              </a:tr>
              <a:tr h="0">
                <a:tc>
                  <a:txBody>
                    <a:bodyPr/>
                    <a:lstStyle/>
                    <a:p>
                      <a:pPr lvl="0" indent="0" marL="0" algn="l">
                        <a:buNone/>
                      </a:pPr>
                      <a:r>
                        <a:rPr b="1"/>
                        <a:t>해물</a:t>
                      </a:r>
                    </a:p>
                  </a:txBody>
                </a:tc>
                <a:tc>
                  <a:txBody>
                    <a:bodyPr/>
                    <a:lstStyle/>
                    <a:p>
                      <a:pPr lvl="0" indent="0" marL="0" algn="l">
                        <a:buNone/>
                      </a:pPr>
                      <a:r>
                        <a:rPr/>
                        <a:t>Cá(생선), Tôm(새우), Cua(게)</a:t>
                      </a:r>
                    </a:p>
                  </a:txBody>
                </a:tc>
                <a:tc>
                  <a:txBody>
                    <a:bodyPr/>
                    <a:lstStyle/>
                    <a:p>
                      <a:pPr lvl="0" indent="0" marL="0" algn="l">
                        <a:buNone/>
                      </a:pPr>
                      <a:r>
                        <a:rPr b="1"/>
                        <a:t>조리법</a:t>
                      </a:r>
                    </a:p>
                  </a:txBody>
                </a:tc>
                <a:tc>
                  <a:txBody>
                    <a:bodyPr/>
                    <a:lstStyle/>
                    <a:p>
                      <a:pPr lvl="0" indent="0" marL="0" algn="l">
                        <a:buNone/>
                      </a:pPr>
                      <a:r>
                        <a:rPr/>
                        <a:t>Hấp(찜), Luộc(삶음)</a:t>
                      </a:r>
                    </a:p>
                  </a:txBody>
                </a:tc>
              </a:tr>
              <a:tr h="0">
                <a:tc>
                  <a:txBody>
                    <a:bodyPr/>
                    <a:lstStyle/>
                    <a:p>
                      <a:pPr lvl="0" indent="0" marL="0" algn="l">
                        <a:buNone/>
                      </a:pPr>
                      <a:r>
                        <a:rPr b="1"/>
                        <a:t>채소</a:t>
                      </a:r>
                    </a:p>
                  </a:txBody>
                </a:tc>
                <a:tc>
                  <a:txBody>
                    <a:bodyPr/>
                    <a:lstStyle/>
                    <a:p>
                      <a:pPr lvl="0" indent="0" marL="0" algn="l">
                        <a:buNone/>
                      </a:pPr>
                      <a:r>
                        <a:rPr/>
                        <a:t>Ớt(고추), Tỏi(마늘), Giá(숙주)</a:t>
                      </a:r>
                    </a:p>
                  </a:txBody>
                </a:tc>
                <a:tc>
                  <a:txBody>
                    <a:bodyPr/>
                    <a:lstStyle/>
                    <a:p>
                      <a:pPr lvl="0" indent="0" marL="0" algn="l">
                        <a:buNone/>
                      </a:pPr>
                      <a:r>
                        <a:rPr b="1"/>
                        <a:t>식사</a:t>
                      </a:r>
                    </a:p>
                  </a:txBody>
                </a:tc>
                <a:tc>
                  <a:txBody>
                    <a:bodyPr/>
                    <a:lstStyle/>
                    <a:p>
                      <a:pPr lvl="0" indent="0" marL="0" algn="l">
                        <a:buNone/>
                      </a:pPr>
                      <a:r>
                        <a:rPr/>
                        <a:t>Cơm(밥), Phở(쌀국수)</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베트남 여행 중 식당 메뉴판을 읽기 위해서는 기본적인 식재료와 조리법 명칭을 아는 것이 필수적입니다. 예를 들어 ’Cơm sườn nướng’은 밥(Com) 위에 숯불구이(Nuong) 갈비(Suon)를 올린 숯불갈비덮밥임을 단어의 조합을 통해 쉽게 유추할 수 있습니다.</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9페이지: 다낭 5박 6일 추천 여행 일정 (Table 2)</a:t>
            </a:r>
          </a:p>
        </p:txBody>
      </p:sp>
      <p:sp>
        <p:nvSpPr>
          <p:cNvPr id="4" name="Text Placeholder 3"/>
          <p:cNvSpPr>
            <a:spLocks noGrp="1"/>
          </p:cNvSpPr>
          <p:nvPr>
            <p:ph idx="2" sz="half" type="body"/>
          </p:nvPr>
        </p:nvSpPr>
        <p:spPr/>
        <p:txBody>
          <a:bodyPr/>
          <a:lstStyle/>
          <a:p>
            <a:pPr lvl="0"/>
            <a:r>
              <a:rPr b="1"/>
              <a:t>1일차에는 다낭 국제공항에 도착하여 시내 중심가에 위치한 숙소로 이동한 뒤 한 시장 주변을 둘러보며 현지 분위기에 적응하는 시간을 가짐.</a:t>
            </a:r>
          </a:p>
          <a:p>
            <a:pPr lvl="0"/>
            <a:r>
              <a:rPr b="1"/>
              <a:t>2일차는 다낭 대성당과 한 시장 쇼핑, 스파 체험을 즐기고 밤에는 용 다리와 사랑의 부두에서 화려한 야경을 감상하는 코스로 구성하는 것이 효율적임.</a:t>
            </a:r>
          </a:p>
          <a:p>
            <a:pPr lvl="0"/>
            <a:r>
              <a:rPr b="1"/>
              <a:t>3일차에는 오행산을 방문하여 자연 경관을 감상하고 호이안으로 이동하여 안방 비치 근처의 리조트에서 휴양과 미식을 동시에 즐기는 일정을 추천함.</a:t>
            </a:r>
          </a:p>
          <a:p>
            <a:pPr lvl="0"/>
            <a:r>
              <a:rPr b="1"/>
              <a:t>4일차와 5일차는 유네스코 세계문화유산인 호이안 구시가지(올드타운)의 등불 야경과 코코넛 햇 투어, 야시장, 소원배 체험 등 현지 문화에 몰입함.</a:t>
            </a:r>
          </a:p>
          <a:p>
            <a:pPr lvl="0"/>
            <a:r>
              <a:rPr b="1"/>
              <a:t>마지막 6일차에는 바나 힐 테마파크를 방문하여 골든 브릿지 등 주요 명소를 둘러보고 시내에서 기념품 쇼핑을 마친 뒤 공항으로 이동하여 귀국함.</a:t>
            </a:r>
          </a:p>
          <a:p>
            <a:pPr lvl="0" indent="0" marL="0">
              <a:buNone/>
            </a:pPr>
            <a:r>
              <a:rPr b="1"/>
              <a:t>표 2: 다낭·호이안 5박 6일 표준 자유여행 일정표</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일차</a:t>
                      </a:r>
                    </a:p>
                  </a:txBody>
                  <a:tcPr/>
                </a:tc>
                <a:tc>
                  <a:txBody>
                    <a:bodyPr/>
                    <a:lstStyle/>
                    <a:p>
                      <a:pPr lvl="0" indent="0" marL="0" algn="l">
                        <a:buNone/>
                      </a:pPr>
                      <a:r>
                        <a:rPr/>
                        <a:t>주요 방문지 및 활동</a:t>
                      </a:r>
                    </a:p>
                  </a:txBody>
                  <a:tcPr/>
                </a:tc>
                <a:tc>
                  <a:txBody>
                    <a:bodyPr/>
                    <a:lstStyle/>
                    <a:p>
                      <a:pPr lvl="0" indent="0" marL="0" algn="l">
                        <a:buNone/>
                      </a:pPr>
                      <a:r>
                        <a:rPr/>
                        <a:t>비고</a:t>
                      </a:r>
                    </a:p>
                  </a:txBody>
                  <a:tcPr/>
                </a:tc>
              </a:tr>
              <a:tr h="0">
                <a:tc>
                  <a:txBody>
                    <a:bodyPr/>
                    <a:lstStyle/>
                    <a:p>
                      <a:pPr lvl="0" indent="0" marL="0" algn="l">
                        <a:buNone/>
                      </a:pPr>
                      <a:r>
                        <a:rPr b="1"/>
                        <a:t>1~2일</a:t>
                      </a:r>
                    </a:p>
                  </a:txBody>
                </a:tc>
                <a:tc>
                  <a:txBody>
                    <a:bodyPr/>
                    <a:lstStyle/>
                    <a:p>
                      <a:pPr lvl="0" indent="0" marL="0" algn="l">
                        <a:buNone/>
                      </a:pPr>
                      <a:r>
                        <a:rPr/>
                        <a:t>다낭 대성당, 한 시장, 용 다리 야경, 시내 스파</a:t>
                      </a:r>
                    </a:p>
                  </a:txBody>
                </a:tc>
                <a:tc>
                  <a:txBody>
                    <a:bodyPr/>
                    <a:lstStyle/>
                    <a:p>
                      <a:pPr lvl="0" indent="0" marL="0" algn="l">
                        <a:buNone/>
                      </a:pPr>
                      <a:r>
                        <a:rPr/>
                        <a:t>다낭 시내 중심 관광</a:t>
                      </a:r>
                    </a:p>
                  </a:txBody>
                </a:tc>
              </a:tr>
              <a:tr h="0">
                <a:tc>
                  <a:txBody>
                    <a:bodyPr/>
                    <a:lstStyle/>
                    <a:p>
                      <a:pPr lvl="0" indent="0" marL="0" algn="l">
                        <a:buNone/>
                      </a:pPr>
                      <a:r>
                        <a:rPr b="1"/>
                        <a:t>3일</a:t>
                      </a:r>
                    </a:p>
                  </a:txBody>
                </a:tc>
                <a:tc>
                  <a:txBody>
                    <a:bodyPr/>
                    <a:lstStyle/>
                    <a:p>
                      <a:pPr lvl="0" indent="0" marL="0" algn="l">
                        <a:buNone/>
                      </a:pPr>
                      <a:r>
                        <a:rPr/>
                        <a:t>오행산(마블마운틴), 안방 비치 휴식</a:t>
                      </a:r>
                    </a:p>
                  </a:txBody>
                </a:tc>
                <a:tc>
                  <a:txBody>
                    <a:bodyPr/>
                    <a:lstStyle/>
                    <a:p>
                      <a:pPr lvl="0" indent="0" marL="0" algn="l">
                        <a:buNone/>
                      </a:pPr>
                      <a:r>
                        <a:rPr/>
                        <a:t>호이안 이동 및 휴양</a:t>
                      </a:r>
                    </a:p>
                  </a:txBody>
                </a:tc>
              </a:tr>
              <a:tr h="0">
                <a:tc>
                  <a:txBody>
                    <a:bodyPr/>
                    <a:lstStyle/>
                    <a:p>
                      <a:pPr lvl="0" indent="0" marL="0" algn="l">
                        <a:buNone/>
                      </a:pPr>
                      <a:r>
                        <a:rPr b="1"/>
                        <a:t>4~5일</a:t>
                      </a:r>
                    </a:p>
                  </a:txBody>
                </a:tc>
                <a:tc>
                  <a:txBody>
                    <a:bodyPr/>
                    <a:lstStyle/>
                    <a:p>
                      <a:pPr lvl="0" indent="0" marL="0" algn="l">
                        <a:buNone/>
                      </a:pPr>
                      <a:r>
                        <a:rPr/>
                        <a:t>호이안 올드타운, 코코넛 햇, 야시장, 소원배</a:t>
                      </a:r>
                    </a:p>
                  </a:txBody>
                </a:tc>
                <a:tc>
                  <a:txBody>
                    <a:bodyPr/>
                    <a:lstStyle/>
                    <a:p>
                      <a:pPr lvl="0" indent="0" marL="0" algn="l">
                        <a:buNone/>
                      </a:pPr>
                      <a:r>
                        <a:rPr/>
                        <a:t>문화 체험 및 야경 감상</a:t>
                      </a:r>
                    </a:p>
                  </a:txBody>
                </a:tc>
              </a:tr>
              <a:tr h="0">
                <a:tc>
                  <a:txBody>
                    <a:bodyPr/>
                    <a:lstStyle/>
                    <a:p>
                      <a:pPr lvl="0" indent="0" marL="0" algn="l">
                        <a:buNone/>
                      </a:pPr>
                      <a:r>
                        <a:rPr b="1"/>
                        <a:t>6일</a:t>
                      </a:r>
                    </a:p>
                  </a:txBody>
                </a:tc>
                <a:tc>
                  <a:txBody>
                    <a:bodyPr/>
                    <a:lstStyle/>
                    <a:p>
                      <a:pPr lvl="0" indent="0" marL="0" algn="l">
                        <a:buNone/>
                      </a:pPr>
                      <a:r>
                        <a:rPr/>
                        <a:t>바나 힐 테마파크, 롯데마트 쇼핑, 공항 이동</a:t>
                      </a:r>
                    </a:p>
                  </a:txBody>
                </a:tc>
                <a:tc>
                  <a:txBody>
                    <a:bodyPr/>
                    <a:lstStyle/>
                    <a:p>
                      <a:pPr lvl="0" indent="0" marL="0" algn="l">
                        <a:buNone/>
                      </a:pPr>
                      <a:r>
                        <a:rPr/>
                        <a:t>랜드마크 방문 및 귀국</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다낭 여행은 시내 관광과 호이안의 문화 체험, 그리고 바나 힐 같은 대형 테마파크 방문을 적절히 섞을 때 만족도가 가장 높습니다. 특히 마지막 날은 밤 비행기 시간을 고려하여 짐 보관이 가능한 티라운지나 스파 시설을 활용하면 시간을 알차게 보낼 수 있습니다.</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10페이지: 베트남 여행 필수 준비물과 짐 꾸리기 (Table 3)</a:t>
            </a:r>
          </a:p>
        </p:txBody>
      </p:sp>
      <p:sp>
        <p:nvSpPr>
          <p:cNvPr id="4" name="Text Placeholder 3"/>
          <p:cNvSpPr>
            <a:spLocks noGrp="1"/>
          </p:cNvSpPr>
          <p:nvPr>
            <p:ph idx="2" sz="half" type="body"/>
          </p:nvPr>
        </p:nvSpPr>
        <p:spPr/>
        <p:txBody>
          <a:bodyPr/>
          <a:lstStyle/>
          <a:p>
            <a:pPr lvl="0"/>
            <a:r>
              <a:rPr b="1"/>
              <a:t>여권, 항공권 바우처, 유심 또는 와이파이 기기 등은 여행의 성패를 결정짓는 가장 핵심적인 필수 품목이므로 출국 전 반드시 재확인해야 함.</a:t>
            </a:r>
          </a:p>
          <a:p>
            <a:pPr lvl="0"/>
            <a:r>
              <a:rPr b="1"/>
              <a:t>베트남의 강한 햇빛과 더위에 대비하여 선크림, 선글라스, 모자, 휴대용 선풍기 등 자외선 차단 및 냉방 용품을 철저히 준비하는 것이 필요함.</a:t>
            </a:r>
          </a:p>
          <a:p>
            <a:pPr lvl="0"/>
            <a:r>
              <a:rPr b="1"/>
              <a:t>갑작스러운 위장 장애나 감기 등에 대비하여 타이레놀, 지사제, 소화제, 반창고 등 비상약을 지참하는 것은 건강한 여행을 위한 기본적인 배려임.</a:t>
            </a:r>
          </a:p>
          <a:p>
            <a:pPr lvl="0"/>
            <a:r>
              <a:rPr b="1"/>
              <a:t>동전이 없고 화폐 단위가 큰 베트남 돈을 체계적으로 관리하기 위해 미니 포켓 파일(동지갑)을 준비하면 계산 실수와 혼선을 방지할 수 있음.</a:t>
            </a:r>
          </a:p>
          <a:p>
            <a:pPr lvl="0"/>
            <a:r>
              <a:rPr b="1"/>
              <a:t>에어컨이 강한 기내나 바람이 많이 부는 바나 힐 등 기온 차가 큰 장소에서 활용할 수 있는 가벼운 겉옷이나 스카프를 챙기는 것을 권장함.</a:t>
            </a:r>
          </a:p>
          <a:p>
            <a:pPr lvl="0" indent="0" marL="0">
              <a:buNone/>
            </a:pPr>
            <a:r>
              <a:rPr b="1"/>
              <a:t>표 3: 베트남 여행 짐 꾸리기 체크리스트</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분류</a:t>
                      </a:r>
                    </a:p>
                  </a:txBody>
                  <a:tcPr/>
                </a:tc>
                <a:tc>
                  <a:txBody>
                    <a:bodyPr/>
                    <a:lstStyle/>
                    <a:p>
                      <a:pPr lvl="0" indent="0" marL="0" algn="l">
                        <a:buNone/>
                      </a:pPr>
                      <a:r>
                        <a:rPr/>
                        <a:t>필수 아이템</a:t>
                      </a:r>
                    </a:p>
                  </a:txBody>
                  <a:tcPr/>
                </a:tc>
                <a:tc>
                  <a:txBody>
                    <a:bodyPr/>
                    <a:lstStyle/>
                    <a:p>
                      <a:pPr lvl="0" indent="0" marL="0" algn="l">
                        <a:buNone/>
                      </a:pPr>
                      <a:r>
                        <a:rPr/>
                        <a:t>선택 및 꿀팁 아이템</a:t>
                      </a:r>
                    </a:p>
                  </a:txBody>
                  <a:tcPr/>
                </a:tc>
              </a:tr>
              <a:tr h="0">
                <a:tc>
                  <a:txBody>
                    <a:bodyPr/>
                    <a:lstStyle/>
                    <a:p>
                      <a:pPr lvl="0" indent="0" marL="0" algn="l">
                        <a:buNone/>
                      </a:pPr>
                      <a:r>
                        <a:rPr b="1"/>
                        <a:t>서류/금융</a:t>
                      </a:r>
                    </a:p>
                  </a:txBody>
                </a:tc>
                <a:tc>
                  <a:txBody>
                    <a:bodyPr/>
                    <a:lstStyle/>
                    <a:p>
                      <a:pPr lvl="0" indent="0" marL="0" algn="l">
                        <a:buNone/>
                      </a:pPr>
                      <a:r>
                        <a:rPr/>
                        <a:t>여권, 바우처, 환전금, 신용카드</a:t>
                      </a:r>
                    </a:p>
                  </a:txBody>
                </a:tc>
                <a:tc>
                  <a:txBody>
                    <a:bodyPr/>
                    <a:lstStyle/>
                    <a:p>
                      <a:pPr lvl="0" indent="0" marL="0" algn="l">
                        <a:buNone/>
                      </a:pPr>
                      <a:r>
                        <a:rPr/>
                        <a:t>여권 복사본, </a:t>
                      </a:r>
                      <a:r>
                        <a:rPr b="1"/>
                        <a:t>미니 포켓 파일</a:t>
                      </a:r>
                    </a:p>
                  </a:txBody>
                </a:tc>
              </a:tr>
              <a:tr h="0">
                <a:tc>
                  <a:txBody>
                    <a:bodyPr/>
                    <a:lstStyle/>
                    <a:p>
                      <a:pPr lvl="0" indent="0" marL="0" algn="l">
                        <a:buNone/>
                      </a:pPr>
                      <a:r>
                        <a:rPr b="1"/>
                        <a:t>위생/건강</a:t>
                      </a:r>
                    </a:p>
                  </a:txBody>
                </a:tc>
                <a:tc>
                  <a:txBody>
                    <a:bodyPr/>
                    <a:lstStyle/>
                    <a:p>
                      <a:pPr lvl="0" indent="0" marL="0" algn="l">
                        <a:buNone/>
                      </a:pPr>
                      <a:r>
                        <a:rPr/>
                        <a:t>비상약, 세면도구, 선크림, 휴지</a:t>
                      </a:r>
                    </a:p>
                  </a:txBody>
                </a:tc>
                <a:tc>
                  <a:txBody>
                    <a:bodyPr/>
                    <a:lstStyle/>
                    <a:p>
                      <a:pPr lvl="0" indent="0" marL="0" algn="l">
                        <a:buNone/>
                      </a:pPr>
                      <a:r>
                        <a:rPr/>
                        <a:t>모기 퇴치제, 손 소독제</a:t>
                      </a:r>
                    </a:p>
                  </a:txBody>
                </a:tc>
              </a:tr>
              <a:tr h="0">
                <a:tc>
                  <a:txBody>
                    <a:bodyPr/>
                    <a:lstStyle/>
                    <a:p>
                      <a:pPr lvl="0" indent="0" marL="0" algn="l">
                        <a:buNone/>
                      </a:pPr>
                      <a:r>
                        <a:rPr b="1"/>
                        <a:t>전기/기타</a:t>
                      </a:r>
                    </a:p>
                  </a:txBody>
                </a:tc>
                <a:tc>
                  <a:txBody>
                    <a:bodyPr/>
                    <a:lstStyle/>
                    <a:p>
                      <a:pPr lvl="0" indent="0" marL="0" algn="l">
                        <a:buNone/>
                      </a:pPr>
                      <a:r>
                        <a:rPr/>
                        <a:t>충전기, 유심(USIM), 보조배터리</a:t>
                      </a:r>
                    </a:p>
                  </a:txBody>
                </a:tc>
                <a:tc>
                  <a:txBody>
                    <a:bodyPr/>
                    <a:lstStyle/>
                    <a:p>
                      <a:pPr lvl="0" indent="0" marL="0" algn="l">
                        <a:buNone/>
                      </a:pPr>
                      <a:r>
                        <a:rPr/>
                        <a:t>우산/우비, 휴대용 선풍기</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베트남의 6~7월은 극심한 더위가 이어지므로 통기성이 좋은 옷 위주로 짐을 꾸리되, 실내 냉방에 대비한 얇은 긴팔 옷도 잊지 말아야 합니다. 또한 수돗물은 절대 마시지 말아야 하며 위생적인 여행을 위해 물티슈와 휴대용 세정제를 지참하는 것이 좋습니다.</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11페이지: 베트남 환전 및 현명한 예산 관리 (Table 4)</a:t>
            </a:r>
          </a:p>
        </p:txBody>
      </p:sp>
      <p:sp>
        <p:nvSpPr>
          <p:cNvPr id="4" name="Text Placeholder 3"/>
          <p:cNvSpPr>
            <a:spLocks noGrp="1"/>
          </p:cNvSpPr>
          <p:nvPr>
            <p:ph idx="2" sz="half" type="body"/>
          </p:nvPr>
        </p:nvSpPr>
        <p:spPr/>
        <p:txBody>
          <a:bodyPr/>
          <a:lstStyle/>
          <a:p>
            <a:pPr lvl="0"/>
            <a:r>
              <a:rPr b="1"/>
              <a:t>베트남 화폐인 ’동(VND)’은 단위가 매우 커서 계산이 헷갈리기 쉬우므로 총액에서 0을 하나 빼고 2로 나누면 대략적인 한국 원화 가치가 산출됨.</a:t>
            </a:r>
          </a:p>
          <a:p>
            <a:pPr lvl="0"/>
            <a:r>
              <a:rPr b="1"/>
              <a:t>환전은 한국에서 직접 동으로 바꾸는 것보다 달러(USD)로 환전한 뒤 현지에서 동으로 재환전하는 것이 유리하며 특히 100달러 고액권이 우대받음.</a:t>
            </a:r>
          </a:p>
          <a:p>
            <a:pPr lvl="0"/>
            <a:r>
              <a:rPr b="1"/>
              <a:t>주거래 은행의 환율 우대 서비스를 이용해 달러를 준비하고, 다낭 현지에서는 공항보다는 시내 금은방이나 한 시장 인근 환전소가 환율이 좋음.</a:t>
            </a:r>
          </a:p>
          <a:p>
            <a:pPr lvl="0"/>
            <a:r>
              <a:rPr b="1"/>
              <a:t>베트남은 팁 문화가 어느 정도 존재하며 벨보이나 호텔 청소 시 1달러 정도를, 마사지의 경우 시간당 1달러 내외를 지불하는 것이 일반적임.</a:t>
            </a:r>
          </a:p>
          <a:p>
            <a:pPr lvl="0"/>
            <a:r>
              <a:rPr b="1"/>
              <a:t>일부 식당에서 제공하는 물티슈나 테이블 위 음식은 유료인 경우가 많으므로 사용 전 확인이 필요하며 거스름돈이 정확한지 항상 체크해야 함.</a:t>
            </a:r>
          </a:p>
          <a:p>
            <a:pPr lvl="0" indent="0" marL="0">
              <a:buNone/>
            </a:pPr>
            <a:r>
              <a:rPr b="1"/>
              <a:t>표 4: 베트남 화폐 가치 및 환전 팁 요약</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항목</a:t>
                      </a:r>
                    </a:p>
                  </a:txBody>
                  <a:tcPr/>
                </a:tc>
                <a:tc>
                  <a:txBody>
                    <a:bodyPr/>
                    <a:lstStyle/>
                    <a:p>
                      <a:pPr lvl="0" indent="0" marL="0" algn="l">
                        <a:buNone/>
                      </a:pPr>
                      <a:r>
                        <a:rPr/>
                        <a:t>내용</a:t>
                      </a:r>
                    </a:p>
                  </a:txBody>
                  <a:tcPr/>
                </a:tc>
                <a:tc>
                  <a:txBody>
                    <a:bodyPr/>
                    <a:lstStyle/>
                    <a:p>
                      <a:pPr lvl="0" indent="0" marL="0" algn="l">
                        <a:buNone/>
                      </a:pPr>
                      <a:r>
                        <a:rPr/>
                        <a:t>비고</a:t>
                      </a:r>
                    </a:p>
                  </a:txBody>
                  <a:tcPr/>
                </a:tc>
              </a:tr>
              <a:tr h="0">
                <a:tc>
                  <a:txBody>
                    <a:bodyPr/>
                    <a:lstStyle/>
                    <a:p>
                      <a:pPr lvl="0" indent="0" marL="0" algn="l">
                        <a:buNone/>
                      </a:pPr>
                      <a:r>
                        <a:rPr b="1"/>
                        <a:t>계산법</a:t>
                      </a:r>
                    </a:p>
                  </a:txBody>
                </a:tc>
                <a:tc>
                  <a:txBody>
                    <a:bodyPr/>
                    <a:lstStyle/>
                    <a:p>
                      <a:pPr lvl="0" indent="0" marL="0" algn="l">
                        <a:buNone/>
                      </a:pPr>
                      <a:r>
                        <a:rPr/>
                        <a:t>(베트남 동 - 0) / 2 = 원화</a:t>
                      </a:r>
                    </a:p>
                  </a:txBody>
                </a:tc>
                <a:tc>
                  <a:txBody>
                    <a:bodyPr/>
                    <a:lstStyle/>
                    <a:p>
                      <a:pPr lvl="0" indent="0" marL="0" algn="l">
                        <a:buNone/>
                      </a:pPr>
                      <a:r>
                        <a:rPr/>
                        <a:t>예: 10만 동 → 5천 원</a:t>
                      </a:r>
                    </a:p>
                  </a:txBody>
                </a:tc>
              </a:tr>
              <a:tr h="0">
                <a:tc>
                  <a:txBody>
                    <a:bodyPr/>
                    <a:lstStyle/>
                    <a:p>
                      <a:pPr lvl="0" indent="0" marL="0" algn="l">
                        <a:buNone/>
                      </a:pPr>
                      <a:r>
                        <a:rPr b="1"/>
                        <a:t>환전 전략</a:t>
                      </a:r>
                    </a:p>
                  </a:txBody>
                </a:tc>
                <a:tc>
                  <a:txBody>
                    <a:bodyPr/>
                    <a:lstStyle/>
                    <a:p>
                      <a:pPr lvl="0" indent="0" marL="0" algn="l">
                        <a:buNone/>
                      </a:pPr>
                      <a:r>
                        <a:rPr/>
                        <a:t>한화 → </a:t>
                      </a:r>
                      <a:r>
                        <a:rPr b="1"/>
                        <a:t>달러(100불권)</a:t>
                      </a:r>
                      <a:r>
                        <a:rPr/>
                        <a:t> → 동</a:t>
                      </a:r>
                    </a:p>
                  </a:txBody>
                </a:tc>
                <a:tc>
                  <a:txBody>
                    <a:bodyPr/>
                    <a:lstStyle/>
                    <a:p>
                      <a:pPr lvl="0" indent="0" marL="0" algn="l">
                        <a:buNone/>
                      </a:pPr>
                      <a:r>
                        <a:rPr/>
                        <a:t>이중 환전이 가장 경제적임</a:t>
                      </a:r>
                    </a:p>
                  </a:txBody>
                </a:tc>
              </a:tr>
              <a:tr h="0">
                <a:tc>
                  <a:txBody>
                    <a:bodyPr/>
                    <a:lstStyle/>
                    <a:p>
                      <a:pPr lvl="0" indent="0" marL="0" algn="l">
                        <a:buNone/>
                      </a:pPr>
                      <a:r>
                        <a:rPr b="1"/>
                        <a:t>주요 환전소</a:t>
                      </a:r>
                    </a:p>
                  </a:txBody>
                </a:tc>
                <a:tc>
                  <a:txBody>
                    <a:bodyPr/>
                    <a:lstStyle/>
                    <a:p>
                      <a:pPr lvl="0" indent="0" marL="0" algn="l">
                        <a:buNone/>
                      </a:pPr>
                      <a:r>
                        <a:rPr/>
                        <a:t>다낭 금은방, 한 시장 인근</a:t>
                      </a:r>
                    </a:p>
                  </a:txBody>
                </a:tc>
                <a:tc>
                  <a:txBody>
                    <a:bodyPr/>
                    <a:lstStyle/>
                    <a:p>
                      <a:pPr lvl="0" indent="0" marL="0" algn="l">
                        <a:buNone/>
                      </a:pPr>
                      <a:r>
                        <a:rPr/>
                        <a:t>공항은 시내보다 환율이 낮음</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베트남 여행 시 예산 관리는 단위가 큰 화폐에 익숙해지는 것부터 시작됩니다. 팁 문화는 강제는 아니지만 원활한 서비스를 위해 관례적으로 통용되므로 소액권 달러나 베트남 동을 미리 준비해두면 상황에 맞게 대처할 수 있습니다.</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12페이지: 현지 교통 수단 그랩(Grab)과 에티켓</a:t>
            </a:r>
          </a:p>
        </p:txBody>
      </p:sp>
      <p:sp>
        <p:nvSpPr>
          <p:cNvPr id="3" name="Content Placeholder 2"/>
          <p:cNvSpPr>
            <a:spLocks noGrp="1"/>
          </p:cNvSpPr>
          <p:nvPr>
            <p:ph idx="1"/>
          </p:nvPr>
        </p:nvSpPr>
        <p:spPr/>
        <p:txBody>
          <a:bodyPr/>
          <a:lstStyle/>
          <a:p>
            <a:pPr lvl="0"/>
            <a:r>
              <a:rPr b="1"/>
              <a:t>베트남 이동의 필수 앱인 ’그랩’은 출발지와 목적지를 입력하면 예상 비용이 투명하게 표시되어 바가지 요금 걱정 없이 편리하게 이용 가능함.</a:t>
            </a:r>
          </a:p>
          <a:p>
            <a:pPr lvl="0"/>
            <a:r>
              <a:rPr b="1"/>
              <a:t>그랩 호출 시 차량 번호와 기사 정보를 미리 확인할 수 있어 안전하며 카카오 택시와 유사한 방식으로 한국 여행객들도 쉽게 적응할 수 있음.</a:t>
            </a:r>
          </a:p>
          <a:p>
            <a:pPr lvl="0"/>
            <a:r>
              <a:rPr b="1"/>
              <a:t>오후 2시부터 5시 사이는 베트남의 기온이 가장 높은 시간대이므로 야외 활동보다는 호텔 휴식이나 실내 쇼핑몰 일정을 배치하는 것이 건강에 이로움.</a:t>
            </a:r>
          </a:p>
          <a:p>
            <a:pPr lvl="0"/>
            <a:r>
              <a:rPr b="1"/>
              <a:t>대도시의 교통 체증은 베트남의 일상적인 풍경이므로 도로 상황에 대해 화를 내기보다는 여유로운 마음가짐으로 흐름을 기다리는 태도가 필요함.</a:t>
            </a:r>
          </a:p>
          <a:p>
            <a:pPr lvl="0"/>
            <a:r>
              <a:rPr b="1"/>
              <a:t>길을 건널 때는 지정된 횡단보도를 이용하고, 오토바이가 많이 다니는 도로 특성상 일정한 속도로 천천히 걸어가면 기사들이 알아서 피해 가는 특징이 있음.</a:t>
            </a:r>
          </a:p>
          <a:p>
            <a:pPr lvl="0" indent="0" marL="0">
              <a:buNone/>
            </a:pPr>
            <a:r>
              <a:rPr b="1"/>
              <a:t>그랩(Grab) 이용 단계 및 주의사항</a:t>
            </a:r>
            <a:r>
              <a:rPr/>
              <a:t> 1. </a:t>
            </a:r>
            <a:r>
              <a:rPr b="1"/>
              <a:t>앱 설치 및 가입:</a:t>
            </a:r>
            <a:r>
              <a:rPr/>
              <a:t> 한국에서 미리 인증을 받고 카드 결제를 등록해두면 현금 결제의 번거로움을 줄일 수 있습니다. 2. </a:t>
            </a:r>
            <a:r>
              <a:rPr b="1"/>
              <a:t>호출:</a:t>
            </a:r>
            <a:r>
              <a:rPr/>
              <a:t> 차량 종류(4인승, 7인승 등)에 따라 가격이 다르므로 인원수에 맞게 선택합니다. 3. </a:t>
            </a:r>
            <a:r>
              <a:rPr b="1"/>
              <a:t>탑승:</a:t>
            </a:r>
            <a:r>
              <a:rPr/>
              <a:t> 앱에 표시된 차량 번호와 실제 차량이 일치하는지 확인 후 탑승하며, 운행 경로를 앱으로 실시간 모니터링할 수 있습니다.</a:t>
            </a:r>
          </a:p>
          <a:p>
            <a:pPr lvl="0" indent="0" marL="0">
              <a:buNone/>
            </a:pPr>
            <a:r>
              <a:rPr/>
              <a:t>교통 규칙 준수는 안전 여행의 시작입니다. 베트남의 혼잡한 도로 환경에 당황하지 말고 현지의 질서를 존중하며 이동하는 것이 즐거운 여행을 유지하는 비결입니다.</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13페이지: 베트남 문화 에티켓 - 해야 할 일 (Table 5)</a:t>
            </a:r>
          </a:p>
        </p:txBody>
      </p:sp>
      <p:sp>
        <p:nvSpPr>
          <p:cNvPr id="4" name="Text Placeholder 3"/>
          <p:cNvSpPr>
            <a:spLocks noGrp="1"/>
          </p:cNvSpPr>
          <p:nvPr>
            <p:ph idx="2" sz="half" type="body"/>
          </p:nvPr>
        </p:nvSpPr>
        <p:spPr/>
        <p:txBody>
          <a:bodyPr/>
          <a:lstStyle/>
          <a:p>
            <a:pPr lvl="0"/>
            <a:r>
              <a:rPr b="1"/>
              <a:t>현지인들과 소통할 때 진심 어린 미소와 함께 “Xin chao(안녕하세요)”, “Cam on(감사합니다)” 등 기본적인 베트남어를 사용하는 것은 큰 환영을 받음.</a:t>
            </a:r>
          </a:p>
          <a:p>
            <a:pPr lvl="0"/>
            <a:r>
              <a:rPr b="1"/>
              <a:t>베트남 사람들의 개인적인 공간과 영업 공간을 존중해야 하며, 인물이나 사유지를 사진 찍기 전에는 반드시 정중하게 허락을 구하는 것이 예의임.</a:t>
            </a:r>
          </a:p>
          <a:p>
            <a:pPr lvl="0"/>
            <a:r>
              <a:rPr b="1"/>
              <a:t>전통 시장에서 흥정은 문화의 일부이므로 공격적인 태도보다는 가벼운 말투와 미소를 유지하며 문화적 교류의 차원으로 접근하는 것이 바람직함.</a:t>
            </a:r>
          </a:p>
          <a:p>
            <a:pPr lvl="0"/>
            <a:r>
              <a:rPr b="1"/>
              <a:t>노인에 대한 공경을 중시하는 유교적 전통이 강하므로 모임이나 방에 들어갈 때 어르신께 먼저 인사를 건네고 적절한 호칭을 사용하여 존경을 표함.</a:t>
            </a:r>
          </a:p>
          <a:p>
            <a:pPr lvl="0"/>
            <a:r>
              <a:rPr b="1"/>
              <a:t>식사 시 주인이 먼저 먹기 시작할 때까지 기다리고, 젓가락을 그릇에 세우거나 사람을 가리키는 용도로 사용하지 않는 등 테이블 매너를 엄격히 준수함.</a:t>
            </a:r>
          </a:p>
          <a:p>
            <a:pPr lvl="0" indent="0" marL="0">
              <a:buNone/>
            </a:pPr>
            <a:r>
              <a:rPr b="1"/>
              <a:t>표 5: 베트남 여행 시 반드시 실천해야 할 긍정적 행동</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항목</a:t>
                      </a:r>
                    </a:p>
                  </a:txBody>
                  <a:tcPr/>
                </a:tc>
                <a:tc>
                  <a:txBody>
                    <a:bodyPr/>
                    <a:lstStyle/>
                    <a:p>
                      <a:pPr lvl="0" indent="0" marL="0" algn="l">
                        <a:buNone/>
                      </a:pPr>
                      <a:r>
                        <a:rPr/>
                        <a:t>권장 행동</a:t>
                      </a:r>
                    </a:p>
                  </a:txBody>
                  <a:tcPr/>
                </a:tc>
                <a:tc>
                  <a:txBody>
                    <a:bodyPr/>
                    <a:lstStyle/>
                    <a:p>
                      <a:pPr lvl="0" indent="0" marL="0" algn="l">
                        <a:buNone/>
                      </a:pPr>
                      <a:r>
                        <a:rPr/>
                        <a:t>기대 효과</a:t>
                      </a:r>
                    </a:p>
                  </a:txBody>
                  <a:tcPr/>
                </a:tc>
              </a:tr>
              <a:tr h="0">
                <a:tc>
                  <a:txBody>
                    <a:bodyPr/>
                    <a:lstStyle/>
                    <a:p>
                      <a:pPr lvl="0" indent="0" marL="0" algn="l">
                        <a:buNone/>
                      </a:pPr>
                      <a:r>
                        <a:rPr b="1"/>
                        <a:t>언어</a:t>
                      </a:r>
                    </a:p>
                  </a:txBody>
                </a:tc>
                <a:tc>
                  <a:txBody>
                    <a:bodyPr/>
                    <a:lstStyle/>
                    <a:p>
                      <a:pPr lvl="0" indent="0" marL="0" algn="l">
                        <a:buNone/>
                      </a:pPr>
                      <a:r>
                        <a:rPr/>
                        <a:t>생존 베트남어 활용</a:t>
                      </a:r>
                    </a:p>
                  </a:txBody>
                </a:tc>
                <a:tc>
                  <a:txBody>
                    <a:bodyPr/>
                    <a:lstStyle/>
                    <a:p>
                      <a:pPr lvl="0" indent="0" marL="0" algn="l">
                        <a:buNone/>
                      </a:pPr>
                      <a:r>
                        <a:rPr/>
                        <a:t>현지인과의 친밀감 및 환대 유도</a:t>
                      </a:r>
                    </a:p>
                  </a:txBody>
                </a:tc>
              </a:tr>
              <a:tr h="0">
                <a:tc>
                  <a:txBody>
                    <a:bodyPr/>
                    <a:lstStyle/>
                    <a:p>
                      <a:pPr lvl="0" indent="0" marL="0" algn="l">
                        <a:buNone/>
                      </a:pPr>
                      <a:r>
                        <a:rPr b="1"/>
                        <a:t>태도</a:t>
                      </a:r>
                    </a:p>
                  </a:txBody>
                </a:tc>
                <a:tc>
                  <a:txBody>
                    <a:bodyPr/>
                    <a:lstStyle/>
                    <a:p>
                      <a:pPr lvl="0" indent="0" marL="0" algn="l">
                        <a:buNone/>
                      </a:pPr>
                      <a:r>
                        <a:rPr/>
                        <a:t>미소로 인사하기</a:t>
                      </a:r>
                    </a:p>
                  </a:txBody>
                </a:tc>
                <a:tc>
                  <a:txBody>
                    <a:bodyPr/>
                    <a:lstStyle/>
                    <a:p>
                      <a:pPr lvl="0" indent="0" marL="0" algn="l">
                        <a:buNone/>
                      </a:pPr>
                      <a:r>
                        <a:rPr/>
                        <a:t>어색함 해소 및 존중의 표시</a:t>
                      </a:r>
                    </a:p>
                  </a:txBody>
                </a:tc>
              </a:tr>
              <a:tr h="0">
                <a:tc>
                  <a:txBody>
                    <a:bodyPr/>
                    <a:lstStyle/>
                    <a:p>
                      <a:pPr lvl="0" indent="0" marL="0" algn="l">
                        <a:buNone/>
                      </a:pPr>
                      <a:r>
                        <a:rPr b="1"/>
                        <a:t>사회성</a:t>
                      </a:r>
                    </a:p>
                  </a:txBody>
                </a:tc>
                <a:tc>
                  <a:txBody>
                    <a:bodyPr/>
                    <a:lstStyle/>
                    <a:p>
                      <a:pPr lvl="0" indent="0" marL="0" algn="l">
                        <a:buNone/>
                      </a:pPr>
                      <a:r>
                        <a:rPr/>
                        <a:t>노인 먼저 예우하기</a:t>
                      </a:r>
                    </a:p>
                  </a:txBody>
                </a:tc>
                <a:tc>
                  <a:txBody>
                    <a:bodyPr/>
                    <a:lstStyle/>
                    <a:p>
                      <a:pPr lvl="0" indent="0" marL="0" algn="l">
                        <a:buNone/>
                      </a:pPr>
                      <a:r>
                        <a:rPr/>
                        <a:t>현지 전통 문화에 대한 깊은 존중</a:t>
                      </a:r>
                    </a:p>
                  </a:txBody>
                </a:tc>
              </a:tr>
              <a:tr h="0">
                <a:tc>
                  <a:txBody>
                    <a:bodyPr/>
                    <a:lstStyle/>
                    <a:p>
                      <a:pPr lvl="0" indent="0" marL="0" algn="l">
                        <a:buNone/>
                      </a:pPr>
                      <a:r>
                        <a:rPr b="1"/>
                        <a:t>질서</a:t>
                      </a:r>
                    </a:p>
                  </a:txBody>
                </a:tc>
                <a:tc>
                  <a:txBody>
                    <a:bodyPr/>
                    <a:lstStyle/>
                    <a:p>
                      <a:pPr lvl="0" indent="0" marL="0" algn="l">
                        <a:buNone/>
                      </a:pPr>
                      <a:r>
                        <a:rPr/>
                        <a:t>줄 서기 및 차분함 유지</a:t>
                      </a:r>
                    </a:p>
                  </a:txBody>
                </a:tc>
                <a:tc>
                  <a:txBody>
                    <a:bodyPr/>
                    <a:lstStyle/>
                    <a:p>
                      <a:pPr lvl="0" indent="0" marL="0" algn="l">
                        <a:buNone/>
                      </a:pPr>
                      <a:r>
                        <a:rPr/>
                        <a:t>원활한 관광 및 긍정적 이미지 형성</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베트남은 54개 민족의 다양한 문화가 공존하는 나라이므로 타인의 전통과 관습을 열린 마음으로 관찰하고 존중하는 자세가 여행의 가치를 높여줍니다. 작은 배려와 예절이 현지인들에게는 깊은 인상을 남기며 여행객 자신에게도 더 풍요로운 경험으로 돌아오게 됩니다.</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14페이지: 베트남 문화 에티켓 - 하지 말아야 할 일</a:t>
            </a:r>
          </a:p>
        </p:txBody>
      </p:sp>
      <p:sp>
        <p:nvSpPr>
          <p:cNvPr id="3" name="Content Placeholder 2"/>
          <p:cNvSpPr>
            <a:spLocks noGrp="1"/>
          </p:cNvSpPr>
          <p:nvPr>
            <p:ph idx="1"/>
          </p:nvPr>
        </p:nvSpPr>
        <p:spPr/>
        <p:txBody>
          <a:bodyPr/>
          <a:lstStyle/>
          <a:p>
            <a:pPr lvl="0"/>
            <a:r>
              <a:rPr b="1"/>
              <a:t>사원이나 종교적인 장소를 방문할 때는 어깨와 허벅지를 드러내는 노출이 심한 복장을 피하고 반드시 신발을 벗고 입장하여 신성함을 유지해야 함.</a:t>
            </a:r>
          </a:p>
          <a:p>
            <a:pPr lvl="0"/>
            <a:r>
              <a:rPr b="1"/>
              <a:t>공공장소에서의 지나친 애정 표현은 보수적인 베트남 사회 정서상 큰 금기 사항에 해당하므로 섬세하고 조심스러운 태도를 유지하는 것이 중요함.</a:t>
            </a:r>
          </a:p>
          <a:p>
            <a:pPr lvl="0"/>
            <a:r>
              <a:rPr b="1"/>
              <a:t>정치, 종교, 소득 수준 등 민감한 주제는 대화 소재로 적절하지 않으며 가급적 오락이나 음식 등 중립적이고 유쾌한 주제로 소통하는 것을 권장함.</a:t>
            </a:r>
          </a:p>
          <a:p>
            <a:pPr lvl="0"/>
            <a:r>
              <a:rPr b="1"/>
              <a:t>머리는 신성한 부분으로 여겨지므로 친근함의 표시라도 타인의 머리를 함부로 만지지 말아야 하며, 사람을 발로 가리키는 행위는 심각한 무례임.</a:t>
            </a:r>
          </a:p>
          <a:p>
            <a:pPr lvl="0"/>
            <a:r>
              <a:rPr b="1"/>
              <a:t>수돗물에는 석회질이나 불순물이 섞여 있을 수 있어 위장 문제를 일으킬 위험이 크므로 반드시 생수나 정수된 물만 마시는 원칙을 고수해야 함.</a:t>
            </a:r>
          </a:p>
          <a:p>
            <a:pPr lvl="0" indent="0" marL="0">
              <a:buNone/>
            </a:pPr>
            <a:r>
              <a:rPr b="1"/>
              <a:t>베트남 여행 시 주의해야 할 금기 사항 리스트</a:t>
            </a:r>
            <a:r>
              <a:rPr/>
              <a:t> 1. </a:t>
            </a:r>
            <a:r>
              <a:rPr b="1"/>
              <a:t>국가 상징 훼손 금지:</a:t>
            </a:r>
            <a:r>
              <a:rPr/>
              <a:t> 국기나 기념물에 대해 불경한 언행을 절대 삼가야 합니다. 2. </a:t>
            </a:r>
            <a:r>
              <a:rPr b="1"/>
              <a:t>공공장소 소란 금지:</a:t>
            </a:r>
            <a:r>
              <a:rPr/>
              <a:t> 큰 목소리로 말하거나 분노를 표출하는 것은 주변 사람들에게 매우 불쾌한 인상을 줍니다. 3. </a:t>
            </a:r>
            <a:r>
              <a:rPr b="1"/>
              <a:t>환경 보호:</a:t>
            </a:r>
            <a:r>
              <a:rPr/>
              <a:t> 쓰레기를 함부로 버리지 말고 지정된 통을 이용하며 가능한 재활용에 동참합니다. 4. </a:t>
            </a:r>
            <a:r>
              <a:rPr b="1"/>
              <a:t>귀중품 노출 자제:</a:t>
            </a:r>
            <a:r>
              <a:rPr/>
              <a:t> 소매치기의 표적이 되지 않도록 고가의 장신구나 현금은 가방 깊숙이 보관합니다.</a:t>
            </a:r>
          </a:p>
          <a:p>
            <a:pPr lvl="0" indent="0" marL="0">
              <a:buNone/>
            </a:pPr>
            <a:r>
              <a:rPr/>
              <a:t>이러한 기본적인 주의사항과 섬세한 문화적 요소들을 염두에 둔다면 현지인들과 마찰 없이 원활하게 소통하며 베트남의 진정한 아름다움을 만끽할 수 있습니다.</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15페이지: 베트남 북부 지역 기후 및 옷차림 (Table 6)</a:t>
            </a:r>
          </a:p>
        </p:txBody>
      </p:sp>
      <p:sp>
        <p:nvSpPr>
          <p:cNvPr id="4" name="Text Placeholder 3"/>
          <p:cNvSpPr>
            <a:spLocks noGrp="1"/>
          </p:cNvSpPr>
          <p:nvPr>
            <p:ph idx="2" sz="half" type="body"/>
          </p:nvPr>
        </p:nvSpPr>
        <p:spPr/>
        <p:txBody>
          <a:bodyPr/>
          <a:lstStyle/>
          <a:p>
            <a:pPr lvl="0"/>
            <a:r>
              <a:rPr b="1"/>
              <a:t>하노이와 사파를 포함한 북부 지역은 뚜렷한 사계절이 존재하며 겨울철인 1월에는 기온이 15도까지 떨어져 두꺼운 재킷과 스카프가 필수적임.</a:t>
            </a:r>
          </a:p>
          <a:p>
            <a:pPr lvl="0"/>
            <a:r>
              <a:rPr b="1"/>
              <a:t>봄의 시작인 3~4월은 시원하고 건조하여 관광하기에 가장 완벽한 날씨를 보이며 가벼운 긴팔이나 스웨터를 겹쳐 입는 방식으로 대비함.</a:t>
            </a:r>
          </a:p>
          <a:p>
            <a:pPr lvl="0"/>
            <a:r>
              <a:rPr b="1"/>
              <a:t>여름인 6~8월은 30도를 웃도는 고온과 폭우가 동반되는 습한 기후가 지속되므로 통기성이 좋은 면 티셔츠와 방수 신발, 우산을 준비해야 함.</a:t>
            </a:r>
          </a:p>
          <a:p>
            <a:pPr lvl="0"/>
            <a:r>
              <a:rPr b="1"/>
              <a:t>가을로 접어드는 10~11월은 캘리포니아의 가을처럼 쾌적한 날씨가 이어져 긴팔 면바지와 가벼운 외투만으로도 편안한 여행이 가능한 시기임.</a:t>
            </a:r>
          </a:p>
          <a:p>
            <a:pPr lvl="0"/>
            <a:r>
              <a:rPr b="1"/>
              <a:t>고산 지대인 사파는 겨울철 기온이 영하권으로 떨어지거나 눈이 올 수도 있으므로 콜로라도 산맥을 여행하듯 방한 장비를 철저히 갖춰야 함.</a:t>
            </a:r>
          </a:p>
          <a:p>
            <a:pPr lvl="0" indent="0" marL="0">
              <a:buNone/>
            </a:pPr>
            <a:r>
              <a:rPr b="1"/>
              <a:t>표 6: 베트남 북부(하노이 등) 월별 권장 옷차림</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시기</a:t>
                      </a:r>
                    </a:p>
                  </a:txBody>
                  <a:tcPr/>
                </a:tc>
                <a:tc>
                  <a:txBody>
                    <a:bodyPr/>
                    <a:lstStyle/>
                    <a:p>
                      <a:pPr lvl="0" indent="0" marL="0" algn="l">
                        <a:buNone/>
                      </a:pPr>
                      <a:r>
                        <a:rPr/>
                        <a:t>평균 기온</a:t>
                      </a:r>
                    </a:p>
                  </a:txBody>
                  <a:tcPr/>
                </a:tc>
                <a:tc>
                  <a:txBody>
                    <a:bodyPr/>
                    <a:lstStyle/>
                    <a:p>
                      <a:pPr lvl="0" indent="0" marL="0" algn="l">
                        <a:buNone/>
                      </a:pPr>
                      <a:r>
                        <a:rPr/>
                        <a:t>무엇을 입을 것인가</a:t>
                      </a:r>
                    </a:p>
                  </a:txBody>
                  <a:tcPr/>
                </a:tc>
                <a:tc>
                  <a:txBody>
                    <a:bodyPr/>
                    <a:lstStyle/>
                    <a:p>
                      <a:pPr lvl="0" indent="0" marL="0" algn="l">
                        <a:buNone/>
                      </a:pPr>
                      <a:r>
                        <a:rPr/>
                        <a:t>날씨 특징</a:t>
                      </a:r>
                    </a:p>
                  </a:txBody>
                  <a:tcPr/>
                </a:tc>
              </a:tr>
              <a:tr h="0">
                <a:tc>
                  <a:txBody>
                    <a:bodyPr/>
                    <a:lstStyle/>
                    <a:p>
                      <a:pPr lvl="0" indent="0" marL="0" algn="l">
                        <a:buNone/>
                      </a:pPr>
                      <a:r>
                        <a:rPr b="1"/>
                        <a:t>12~2월</a:t>
                      </a:r>
                    </a:p>
                  </a:txBody>
                </a:tc>
                <a:tc>
                  <a:txBody>
                    <a:bodyPr/>
                    <a:lstStyle/>
                    <a:p>
                      <a:pPr lvl="0" indent="0" marL="0" algn="l">
                        <a:buNone/>
                      </a:pPr>
                      <a:r>
                        <a:rPr/>
                        <a:t>15~20°C</a:t>
                      </a:r>
                    </a:p>
                  </a:txBody>
                </a:tc>
                <a:tc>
                  <a:txBody>
                    <a:bodyPr/>
                    <a:lstStyle/>
                    <a:p>
                      <a:pPr lvl="0" indent="0" marL="0" algn="l">
                        <a:buNone/>
                      </a:pPr>
                      <a:r>
                        <a:rPr/>
                        <a:t>두꺼운 재킷, 스웨터, 부츠</a:t>
                      </a:r>
                    </a:p>
                  </a:txBody>
                </a:tc>
                <a:tc>
                  <a:txBody>
                    <a:bodyPr/>
                    <a:lstStyle/>
                    <a:p>
                      <a:pPr lvl="0" indent="0" marL="0" algn="l">
                        <a:buNone/>
                      </a:pPr>
                      <a:r>
                        <a:rPr/>
                        <a:t>춥고 건조한 겨울</a:t>
                      </a:r>
                    </a:p>
                  </a:txBody>
                </a:tc>
              </a:tr>
              <a:tr h="0">
                <a:tc>
                  <a:txBody>
                    <a:bodyPr/>
                    <a:lstStyle/>
                    <a:p>
                      <a:pPr lvl="0" indent="0" marL="0" algn="l">
                        <a:buNone/>
                      </a:pPr>
                      <a:r>
                        <a:rPr b="1"/>
                        <a:t>3~5월</a:t>
                      </a:r>
                    </a:p>
                  </a:txBody>
                </a:tc>
                <a:tc>
                  <a:txBody>
                    <a:bodyPr/>
                    <a:lstStyle/>
                    <a:p>
                      <a:pPr lvl="0" indent="0" marL="0" algn="l">
                        <a:buNone/>
                      </a:pPr>
                      <a:r>
                        <a:rPr/>
                        <a:t>20~30°C</a:t>
                      </a:r>
                    </a:p>
                  </a:txBody>
                </a:tc>
                <a:tc>
                  <a:txBody>
                    <a:bodyPr/>
                    <a:lstStyle/>
                    <a:p>
                      <a:pPr lvl="0" indent="0" marL="0" algn="l">
                        <a:buNone/>
                      </a:pPr>
                      <a:r>
                        <a:rPr/>
                        <a:t>티셔츠, 가벼운 셔츠, 스니커즈</a:t>
                      </a:r>
                    </a:p>
                  </a:txBody>
                </a:tc>
                <a:tc>
                  <a:txBody>
                    <a:bodyPr/>
                    <a:lstStyle/>
                    <a:p>
                      <a:pPr lvl="0" indent="0" marL="0" algn="l">
                        <a:buNone/>
                      </a:pPr>
                      <a:r>
                        <a:rPr/>
                        <a:t>따뜻한 봄 날씨</a:t>
                      </a:r>
                    </a:p>
                  </a:txBody>
                </a:tc>
              </a:tr>
              <a:tr h="0">
                <a:tc>
                  <a:txBody>
                    <a:bodyPr/>
                    <a:lstStyle/>
                    <a:p>
                      <a:pPr lvl="0" indent="0" marL="0" algn="l">
                        <a:buNone/>
                      </a:pPr>
                      <a:r>
                        <a:rPr b="1"/>
                        <a:t>6~8월</a:t>
                      </a:r>
                    </a:p>
                  </a:txBody>
                </a:tc>
                <a:tc>
                  <a:txBody>
                    <a:bodyPr/>
                    <a:lstStyle/>
                    <a:p>
                      <a:pPr lvl="0" indent="0" marL="0" algn="l">
                        <a:buNone/>
                      </a:pPr>
                      <a:r>
                        <a:rPr/>
                        <a:t>28~34°C</a:t>
                      </a:r>
                    </a:p>
                  </a:txBody>
                </a:tc>
                <a:tc>
                  <a:txBody>
                    <a:bodyPr/>
                    <a:lstStyle/>
                    <a:p>
                      <a:pPr lvl="0" indent="0" marL="0" algn="l">
                        <a:buNone/>
                      </a:pPr>
                      <a:r>
                        <a:rPr/>
                        <a:t>탱크톱, 반바지, 레인 기어</a:t>
                      </a:r>
                    </a:p>
                  </a:txBody>
                </a:tc>
                <a:tc>
                  <a:txBody>
                    <a:bodyPr/>
                    <a:lstStyle/>
                    <a:p>
                      <a:pPr lvl="0" indent="0" marL="0" algn="l">
                        <a:buNone/>
                      </a:pPr>
                      <a:r>
                        <a:rPr/>
                        <a:t>덥고 습하며 폭우</a:t>
                      </a:r>
                    </a:p>
                  </a:txBody>
                </a:tc>
              </a:tr>
              <a:tr h="0">
                <a:tc>
                  <a:txBody>
                    <a:bodyPr/>
                    <a:lstStyle/>
                    <a:p>
                      <a:pPr lvl="0" indent="0" marL="0" algn="l">
                        <a:buNone/>
                      </a:pPr>
                      <a:r>
                        <a:rPr b="1"/>
                        <a:t>9~11월</a:t>
                      </a:r>
                    </a:p>
                  </a:txBody>
                </a:tc>
                <a:tc>
                  <a:txBody>
                    <a:bodyPr/>
                    <a:lstStyle/>
                    <a:p>
                      <a:pPr lvl="0" indent="0" marL="0" algn="l">
                        <a:buNone/>
                      </a:pPr>
                      <a:r>
                        <a:rPr/>
                        <a:t>19~30°C</a:t>
                      </a:r>
                    </a:p>
                  </a:txBody>
                </a:tc>
                <a:tc>
                  <a:txBody>
                    <a:bodyPr/>
                    <a:lstStyle/>
                    <a:p>
                      <a:pPr lvl="0" indent="0" marL="0" algn="l">
                        <a:buNone/>
                      </a:pPr>
                      <a:r>
                        <a:rPr/>
                        <a:t>가벼운 바지, 재킷, 긴팔</a:t>
                      </a:r>
                    </a:p>
                  </a:txBody>
                </a:tc>
                <a:tc>
                  <a:txBody>
                    <a:bodyPr/>
                    <a:lstStyle/>
                    <a:p>
                      <a:pPr lvl="0" indent="0" marL="0" algn="l">
                        <a:buNone/>
                      </a:pPr>
                      <a:r>
                        <a:rPr/>
                        <a:t>가장 쾌적한 가을</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북부 평야 지역은 계절별 변화가 심하므로 방문 시기에 맞는 전략적인 짐 꾸리기가 요구됩니다. 특히 12월에서 2월 사이 방문객들은 동남아시아라는 선입견을 버리고 방한 의류를 충분히 챙겨야 건강을 지킬 수 있습니다.</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16페이지: 베트남 중부 및 남부 지역 기후 가이드 (Table 7)</a:t>
            </a:r>
          </a:p>
        </p:txBody>
      </p:sp>
      <p:sp>
        <p:nvSpPr>
          <p:cNvPr id="4" name="Text Placeholder 3"/>
          <p:cNvSpPr>
            <a:spLocks noGrp="1"/>
          </p:cNvSpPr>
          <p:nvPr>
            <p:ph idx="2" sz="half" type="body"/>
          </p:nvPr>
        </p:nvSpPr>
        <p:spPr/>
        <p:txBody>
          <a:bodyPr/>
          <a:lstStyle/>
          <a:p>
            <a:pPr lvl="0"/>
            <a:r>
              <a:rPr b="1"/>
              <a:t>다낭과 호이안이 속한 중부 지역은 2~8월까지는 강렬한 건조 더위가 이어지고 9월부터는 몬순 영향으로 폭우와 홍수 가능성이 커지는 우기가 시작됨.</a:t>
            </a:r>
          </a:p>
          <a:p>
            <a:pPr lvl="0"/>
            <a:r>
              <a:rPr b="1"/>
              <a:t>중부의 여름인 5~8월은 애리조나처럼 매우 더우므로 정오의 햇볕은 피하고 충분한 수분 섭취와 함께 자외선 차단제 및 모자를 반드시 챙겨야 함.</a:t>
            </a:r>
          </a:p>
          <a:p>
            <a:pPr lvl="0"/>
            <a:r>
              <a:rPr b="1"/>
              <a:t>호찌민과 푸꾸옥이 있는 남부 지역은 일 년 내내 25~35도 사이의 열대 기후를 유지하며 기온 변화가 거의 없는 마이애미나 싱가포르와 유사함.</a:t>
            </a:r>
          </a:p>
          <a:p>
            <a:pPr lvl="0"/>
            <a:r>
              <a:rPr b="1"/>
              <a:t>남부의 우기인 5~10월은 매일 오후 짧고 강한 소나기가 내리므로 속건성 원단의 옷과 방수 샌들, 가벼운 레인 재킷을 지참하는 것이 실용적임.</a:t>
            </a:r>
          </a:p>
          <a:p>
            <a:pPr lvl="0"/>
            <a:r>
              <a:rPr b="1"/>
              <a:t>남부의 건기인 11~4월은 해변 휴양을 즐기기에 가장 이상적인 날씨를 제공하며 가벼운 원피스나 반바지, 슬리퍼 등 전형적인 여름 복장이 적합함.</a:t>
            </a:r>
          </a:p>
          <a:p>
            <a:pPr lvl="0" indent="0" marL="0">
              <a:buNone/>
            </a:pPr>
            <a:r>
              <a:rPr b="1"/>
              <a:t>표 7: 베트남 중·남부 지역 계절 및 옷차림 비교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지역</a:t>
                      </a:r>
                    </a:p>
                  </a:txBody>
                  <a:tcPr/>
                </a:tc>
                <a:tc>
                  <a:txBody>
                    <a:bodyPr/>
                    <a:lstStyle/>
                    <a:p>
                      <a:pPr lvl="0" indent="0" marL="0" algn="l">
                        <a:buNone/>
                      </a:pPr>
                      <a:r>
                        <a:rPr/>
                        <a:t>건기 (의상)</a:t>
                      </a:r>
                    </a:p>
                  </a:txBody>
                  <a:tcPr/>
                </a:tc>
                <a:tc>
                  <a:txBody>
                    <a:bodyPr/>
                    <a:lstStyle/>
                    <a:p>
                      <a:pPr lvl="0" indent="0" marL="0" algn="l">
                        <a:buNone/>
                      </a:pPr>
                      <a:r>
                        <a:rPr/>
                        <a:t>우기 (의상)</a:t>
                      </a:r>
                    </a:p>
                  </a:txBody>
                  <a:tcPr/>
                </a:tc>
                <a:tc>
                  <a:txBody>
                    <a:bodyPr/>
                    <a:lstStyle/>
                    <a:p>
                      <a:pPr lvl="0" indent="0" marL="0" algn="l">
                        <a:buNone/>
                      </a:pPr>
                      <a:r>
                        <a:rPr/>
                        <a:t>날씨 포인트</a:t>
                      </a:r>
                    </a:p>
                  </a:txBody>
                  <a:tcPr/>
                </a:tc>
              </a:tr>
              <a:tr h="0">
                <a:tc>
                  <a:txBody>
                    <a:bodyPr/>
                    <a:lstStyle/>
                    <a:p>
                      <a:pPr lvl="0" indent="0" marL="0" algn="l">
                        <a:buNone/>
                      </a:pPr>
                      <a:r>
                        <a:rPr b="1"/>
                        <a:t>중부(다낭)</a:t>
                      </a:r>
                    </a:p>
                  </a:txBody>
                </a:tc>
                <a:tc>
                  <a:txBody>
                    <a:bodyPr/>
                    <a:lstStyle/>
                    <a:p>
                      <a:pPr lvl="0" indent="0" marL="0" algn="l">
                        <a:buNone/>
                      </a:pPr>
                      <a:r>
                        <a:rPr/>
                        <a:t>2~8월 (얇은 면옷)</a:t>
                      </a:r>
                    </a:p>
                  </a:txBody>
                </a:tc>
                <a:tc>
                  <a:txBody>
                    <a:bodyPr/>
                    <a:lstStyle/>
                    <a:p>
                      <a:pPr lvl="0" indent="0" marL="0" algn="l">
                        <a:buNone/>
                      </a:pPr>
                      <a:r>
                        <a:rPr/>
                        <a:t>9~1월 (방수복, 장화)</a:t>
                      </a:r>
                    </a:p>
                  </a:txBody>
                </a:tc>
                <a:tc>
                  <a:txBody>
                    <a:bodyPr/>
                    <a:lstStyle/>
                    <a:p>
                      <a:pPr lvl="0" indent="0" marL="0" algn="l">
                        <a:buNone/>
                      </a:pPr>
                      <a:r>
                        <a:rPr/>
                        <a:t>극한의 더위와 태풍 주의</a:t>
                      </a:r>
                    </a:p>
                  </a:txBody>
                </a:tc>
              </a:tr>
              <a:tr h="0">
                <a:tc>
                  <a:txBody>
                    <a:bodyPr/>
                    <a:lstStyle/>
                    <a:p>
                      <a:pPr lvl="0" indent="0" marL="0" algn="l">
                        <a:buNone/>
                      </a:pPr>
                      <a:r>
                        <a:rPr b="1"/>
                        <a:t>남부(푸꾸옥)</a:t>
                      </a:r>
                    </a:p>
                  </a:txBody>
                </a:tc>
                <a:tc>
                  <a:txBody>
                    <a:bodyPr/>
                    <a:lstStyle/>
                    <a:p>
                      <a:pPr lvl="0" indent="0" marL="0" algn="l">
                        <a:buNone/>
                      </a:pPr>
                      <a:r>
                        <a:rPr/>
                        <a:t>11~4월 (해변 복장)</a:t>
                      </a:r>
                    </a:p>
                  </a:txBody>
                </a:tc>
                <a:tc>
                  <a:txBody>
                    <a:bodyPr/>
                    <a:lstStyle/>
                    <a:p>
                      <a:pPr lvl="0" indent="0" marL="0" algn="l">
                        <a:buNone/>
                      </a:pPr>
                      <a:r>
                        <a:rPr/>
                        <a:t>5~10월 (속건성 의류)</a:t>
                      </a:r>
                    </a:p>
                  </a:txBody>
                </a:tc>
                <a:tc>
                  <a:txBody>
                    <a:bodyPr/>
                    <a:lstStyle/>
                    <a:p>
                      <a:pPr lvl="0" indent="0" marL="0" algn="l">
                        <a:buNone/>
                      </a:pPr>
                      <a:r>
                        <a:rPr/>
                        <a:t>일관된 열대 기후 유지</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중부 해안 도시는 계절에 따라 여행의 성격이 크게 달라지므로 세심한 준비가 필요합니다. 반면 남부 지역은 일 년 내내 따뜻하여 짐 꾸리기가 상대적으로 수월하지만, 습도가 높으므로 폴리에스테르 소재보다는 면이나 리넨 소재의 옷을 선택하는 것이 쾌적함을 유지하는 비결입니다.</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17페이지: 성별 및 장소별 복장 에티켓 (Table 8)</a:t>
            </a:r>
          </a:p>
        </p:txBody>
      </p:sp>
      <p:sp>
        <p:nvSpPr>
          <p:cNvPr id="4" name="Text Placeholder 3"/>
          <p:cNvSpPr>
            <a:spLocks noGrp="1"/>
          </p:cNvSpPr>
          <p:nvPr>
            <p:ph idx="2" sz="half" type="body"/>
          </p:nvPr>
        </p:nvSpPr>
        <p:spPr/>
        <p:txBody>
          <a:bodyPr/>
          <a:lstStyle/>
          <a:p>
            <a:pPr lvl="0"/>
            <a:r>
              <a:rPr b="1"/>
              <a:t>여성 여행객은 일상적으로 무릎 길이 이상의 단정한 반바지나 미디 드레스를 착용하되 시골 지역에서는 노출이 심한 탱크톱은 가급적 피하는 것이 좋음.</a:t>
            </a:r>
          </a:p>
          <a:p>
            <a:pPr lvl="0"/>
            <a:r>
              <a:rPr b="1"/>
              <a:t>사찰 방문 시 여성은 어깨와 무릎을 완전히 가리는 긴 바지나 스커트를 입어야 하며 필요할 때 빠르게 덮을 수 있는 가벼운 스카프를 지참하면 유용함.</a:t>
            </a:r>
          </a:p>
          <a:p>
            <a:pPr lvl="0"/>
            <a:r>
              <a:rPr b="1"/>
              <a:t>남성 여행객은 종교 시설에서 반바지 대신 긴 바지를 착용하는 것이 필수이며 칼라가 있는 셔츠나 소매가 있는 티셔츠를 입어 예우를 갖추어야 함.</a:t>
            </a:r>
          </a:p>
          <a:p>
            <a:pPr lvl="0"/>
            <a:r>
              <a:rPr b="1"/>
              <a:t>해변이나 리조트 구역을 벗어나 시내를 다닐 때는 수영복만 입거나 상의를 벗은 채 걷는 행위는 문화적으로 수용되지 않으므로 가벼운 티셔츠를 걸쳐야 함.</a:t>
            </a:r>
          </a:p>
          <a:p>
            <a:pPr lvl="0"/>
            <a:r>
              <a:rPr b="1"/>
              <a:t>비즈니스 미팅이나 공식 행사에서는 청바지 대신 정장 바지와 닫힌 앞코의 구두를 착용하며 보수적인 색상의 단정한 스타일을 유지하는 것을 권고함.</a:t>
            </a:r>
          </a:p>
          <a:p>
            <a:pPr lvl="0" indent="0" marL="0">
              <a:buNone/>
            </a:pPr>
            <a:r>
              <a:rPr b="1"/>
              <a:t>표 8: 성별 상황별 추천 복장 및 금지 사항</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구분</a:t>
                      </a:r>
                    </a:p>
                  </a:txBody>
                  <a:tcPr/>
                </a:tc>
                <a:tc>
                  <a:txBody>
                    <a:bodyPr/>
                    <a:lstStyle/>
                    <a:p>
                      <a:pPr lvl="0" indent="0" marL="0" algn="l">
                        <a:buNone/>
                      </a:pPr>
                      <a:r>
                        <a:rPr/>
                        <a:t>여성 (권장 / 금지)</a:t>
                      </a:r>
                    </a:p>
                  </a:txBody>
                  <a:tcPr/>
                </a:tc>
                <a:tc>
                  <a:txBody>
                    <a:bodyPr/>
                    <a:lstStyle/>
                    <a:p>
                      <a:pPr lvl="0" indent="0" marL="0" algn="l">
                        <a:buNone/>
                      </a:pPr>
                      <a:r>
                        <a:rPr/>
                        <a:t>남성 (권장 / 금지)</a:t>
                      </a:r>
                    </a:p>
                  </a:txBody>
                  <a:tcPr/>
                </a:tc>
                <a:tc>
                  <a:txBody>
                    <a:bodyPr/>
                    <a:lstStyle/>
                    <a:p>
                      <a:pPr lvl="0" indent="0" marL="0" algn="l">
                        <a:buNone/>
                      </a:pPr>
                      <a:r>
                        <a:rPr/>
                        <a:t>문화적 배경</a:t>
                      </a:r>
                    </a:p>
                  </a:txBody>
                  <a:tcPr/>
                </a:tc>
              </a:tr>
              <a:tr h="0">
                <a:tc>
                  <a:txBody>
                    <a:bodyPr/>
                    <a:lstStyle/>
                    <a:p>
                      <a:pPr lvl="0" indent="0" marL="0" algn="l">
                        <a:buNone/>
                      </a:pPr>
                      <a:r>
                        <a:rPr b="1"/>
                        <a:t>종교 유적지</a:t>
                      </a:r>
                    </a:p>
                  </a:txBody>
                </a:tc>
                <a:tc>
                  <a:txBody>
                    <a:bodyPr/>
                    <a:lstStyle/>
                    <a:p>
                      <a:pPr lvl="0" indent="0" marL="0" algn="l">
                        <a:buNone/>
                      </a:pPr>
                      <a:r>
                        <a:rPr/>
                        <a:t>긴 치마, 스카프 / 민소매</a:t>
                      </a:r>
                    </a:p>
                  </a:txBody>
                </a:tc>
                <a:tc>
                  <a:txBody>
                    <a:bodyPr/>
                    <a:lstStyle/>
                    <a:p>
                      <a:pPr lvl="0" indent="0" marL="0" algn="l">
                        <a:buNone/>
                      </a:pPr>
                      <a:r>
                        <a:rPr/>
                        <a:t>긴 바지, 칼라 셔츠 / 민소매</a:t>
                      </a:r>
                    </a:p>
                  </a:txBody>
                </a:tc>
                <a:tc>
                  <a:txBody>
                    <a:bodyPr/>
                    <a:lstStyle/>
                    <a:p>
                      <a:pPr lvl="0" indent="0" marL="0" algn="l">
                        <a:buNone/>
                      </a:pPr>
                      <a:r>
                        <a:rPr/>
                        <a:t>신성한 장소에 대한 존경</a:t>
                      </a:r>
                    </a:p>
                  </a:txBody>
                </a:tc>
              </a:tr>
              <a:tr h="0">
                <a:tc>
                  <a:txBody>
                    <a:bodyPr/>
                    <a:lstStyle/>
                    <a:p>
                      <a:pPr lvl="0" indent="0" marL="0" algn="l">
                        <a:buNone/>
                      </a:pPr>
                      <a:r>
                        <a:rPr b="1"/>
                        <a:t>일상/시내</a:t>
                      </a:r>
                    </a:p>
                  </a:txBody>
                </a:tc>
                <a:tc>
                  <a:txBody>
                    <a:bodyPr/>
                    <a:lstStyle/>
                    <a:p>
                      <a:pPr lvl="0" indent="0" marL="0" algn="l">
                        <a:buNone/>
                      </a:pPr>
                      <a:r>
                        <a:rPr/>
                        <a:t>면 원피스 / 짧은 핫팬츠</a:t>
                      </a:r>
                    </a:p>
                  </a:txBody>
                </a:tc>
                <a:tc>
                  <a:txBody>
                    <a:bodyPr/>
                    <a:lstStyle/>
                    <a:p>
                      <a:pPr lvl="0" indent="0" marL="0" algn="l">
                        <a:buNone/>
                      </a:pPr>
                      <a:r>
                        <a:rPr/>
                        <a:t>폴로 셔츠, 면바지 / 상의 탈의</a:t>
                      </a:r>
                    </a:p>
                  </a:txBody>
                </a:tc>
                <a:tc>
                  <a:txBody>
                    <a:bodyPr/>
                    <a:lstStyle/>
                    <a:p>
                      <a:pPr lvl="0" indent="0" marL="0" algn="l">
                        <a:buNone/>
                      </a:pPr>
                      <a:r>
                        <a:rPr/>
                        <a:t>보수적인 사회 분위기 반영</a:t>
                      </a:r>
                    </a:p>
                  </a:txBody>
                </a:tc>
              </a:tr>
              <a:tr h="0">
                <a:tc>
                  <a:txBody>
                    <a:bodyPr/>
                    <a:lstStyle/>
                    <a:p>
                      <a:pPr lvl="0" indent="0" marL="0" algn="l">
                        <a:buNone/>
                      </a:pPr>
                      <a:r>
                        <a:rPr b="1"/>
                        <a:t>트레킹</a:t>
                      </a:r>
                    </a:p>
                  </a:txBody>
                </a:tc>
                <a:tc>
                  <a:txBody>
                    <a:bodyPr/>
                    <a:lstStyle/>
                    <a:p>
                      <a:pPr lvl="0" indent="0" marL="0" algn="l">
                        <a:buNone/>
                      </a:pPr>
                      <a:r>
                        <a:rPr/>
                        <a:t>기술 셔츠, 등산화 / 앞 트인 신발</a:t>
                      </a:r>
                    </a:p>
                  </a:txBody>
                </a:tc>
                <a:tc>
                  <a:txBody>
                    <a:bodyPr/>
                    <a:lstStyle/>
                    <a:p>
                      <a:pPr lvl="0" indent="0" marL="0" algn="l">
                        <a:buNone/>
                      </a:pPr>
                      <a:r>
                        <a:rPr/>
                        <a:t>긴 등산 바지 / 면 티셔츠</a:t>
                      </a:r>
                    </a:p>
                  </a:txBody>
                </a:tc>
                <a:tc>
                  <a:txBody>
                    <a:bodyPr/>
                    <a:lstStyle/>
                    <a:p>
                      <a:pPr lvl="0" indent="0" marL="0" algn="l">
                        <a:buNone/>
                      </a:pPr>
                      <a:r>
                        <a:rPr/>
                        <a:t>모기 방지 및 안전 확보</a:t>
                      </a:r>
                    </a:p>
                  </a:txBody>
                </a:tc>
              </a:tr>
            </a:tbl>
          </a:graphicData>
        </a:graphic>
      </p:graphicFrame>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베트남의 전통 의상인 아오자이나 아오감을 입고 행사에 참여하는 것은 현지 문화에 대한 깊은 존중을 보여주는 훌륭한 방법입니다. 다만 아오자이를 입을 때는 흰색이 애도를 상징하므로 피하고, 너무 꽉 끼거나 과도하게 변형된 디자인은 피하는 것이 예의입니다.</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18페이지: 푸꾸옥 주요 럭셔리 리조트 비교 분석 (Table 9)</a:t>
            </a:r>
          </a:p>
        </p:txBody>
      </p:sp>
      <p:sp>
        <p:nvSpPr>
          <p:cNvPr id="4" name="Text Placeholder 3"/>
          <p:cNvSpPr>
            <a:spLocks noGrp="1"/>
          </p:cNvSpPr>
          <p:nvPr>
            <p:ph idx="2" sz="half" type="body"/>
          </p:nvPr>
        </p:nvSpPr>
        <p:spPr/>
        <p:txBody>
          <a:bodyPr/>
          <a:lstStyle/>
          <a:p>
            <a:pPr lvl="0"/>
            <a:r>
              <a:rPr b="1"/>
              <a:t>멜리아 빈펄은 520여 채의 대규모 풀빌라를 보유하고 있으며 빈원더스, 사파리 등 북부 테마파크와의 접근성이 뛰어나 자녀 동반 가족 여행객에게 최적임.</a:t>
            </a:r>
          </a:p>
          <a:p>
            <a:pPr lvl="0"/>
            <a:r>
              <a:rPr b="1"/>
              <a:t>모벤픽 리조트는 세련된 스위스 풍 인테리어와 매일 오후 투숙객 전용 초콜릿 아워를 제공하며 서양인 투숙객 비율이 높아 이국적인 분위기를 선사함.</a:t>
            </a:r>
          </a:p>
          <a:p>
            <a:pPr lvl="0"/>
            <a:r>
              <a:rPr b="1"/>
              <a:t>세일링 클럽은 복층 구조의 감각적인 풀빌라와 화려한 불쇼를 즐길 수 있는 비치 클럽을 운영하여 젊은 커플이나 친구들 간의 우정 여행에 적합함.</a:t>
            </a:r>
          </a:p>
          <a:p>
            <a:pPr lvl="0"/>
            <a:r>
              <a:rPr b="1"/>
              <a:t>풀만 푸꾸옥은 개인 풀빌라는 없지만 트렌디한 디자인의 대형 수영장과 수준 높은 조식 레스토랑을 갖추고 있어 인스타그램 감성의 사진 촬영에 유리함.</a:t>
            </a:r>
          </a:p>
          <a:p>
            <a:pPr lvl="0"/>
            <a:r>
              <a:rPr b="1"/>
              <a:t>리젠트 푸꾸옥은 섬 내 최고 수준의 럭셔리 시설과 인피니티 풀, 무료 미니바 서비스를 제공하며 프라이빗하고 조용한 휴양을 원하는 허니문 여행객에게 추천함.</a:t>
            </a:r>
          </a:p>
          <a:p>
            <a:pPr lvl="0" indent="0" marL="0">
              <a:buNone/>
            </a:pPr>
            <a:r>
              <a:rPr b="1"/>
              <a:t>표 9: 푸꾸옥 7대 인기 리조트 핵심 특징 비교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리조트명</a:t>
                      </a:r>
                    </a:p>
                  </a:txBody>
                  <a:tcPr/>
                </a:tc>
                <a:tc>
                  <a:txBody>
                    <a:bodyPr/>
                    <a:lstStyle/>
                    <a:p>
                      <a:pPr lvl="0" indent="0" marL="0" algn="l">
                        <a:buNone/>
                      </a:pPr>
                      <a:r>
                        <a:rPr/>
                        <a:t>주요 타겟</a:t>
                      </a:r>
                    </a:p>
                  </a:txBody>
                  <a:tcPr/>
                </a:tc>
                <a:tc>
                  <a:txBody>
                    <a:bodyPr/>
                    <a:lstStyle/>
                    <a:p>
                      <a:pPr lvl="0" indent="0" marL="0" algn="l">
                        <a:buNone/>
                      </a:pPr>
                      <a:r>
                        <a:rPr/>
                        <a:t>강점 요소</a:t>
                      </a:r>
                    </a:p>
                  </a:txBody>
                  <a:tcPr/>
                </a:tc>
                <a:tc>
                  <a:txBody>
                    <a:bodyPr/>
                    <a:lstStyle/>
                    <a:p>
                      <a:pPr lvl="0" indent="0" marL="0" algn="l">
                        <a:buNone/>
                      </a:pPr>
                      <a:r>
                        <a:rPr/>
                        <a:t>단점 요소</a:t>
                      </a:r>
                    </a:p>
                  </a:txBody>
                  <a:tcPr/>
                </a:tc>
              </a:tr>
              <a:tr h="0">
                <a:tc>
                  <a:txBody>
                    <a:bodyPr/>
                    <a:lstStyle/>
                    <a:p>
                      <a:pPr lvl="0" indent="0" marL="0" algn="l">
                        <a:buNone/>
                      </a:pPr>
                      <a:r>
                        <a:rPr b="1"/>
                        <a:t>멜리아 빈펄</a:t>
                      </a:r>
                    </a:p>
                  </a:txBody>
                </a:tc>
                <a:tc>
                  <a:txBody>
                    <a:bodyPr/>
                    <a:lstStyle/>
                    <a:p>
                      <a:pPr lvl="0" indent="0" marL="0" algn="l">
                        <a:buNone/>
                      </a:pPr>
                      <a:r>
                        <a:rPr/>
                        <a:t>대가족, 아이 동반</a:t>
                      </a:r>
                    </a:p>
                  </a:txBody>
                </a:tc>
                <a:tc>
                  <a:txBody>
                    <a:bodyPr/>
                    <a:lstStyle/>
                    <a:p>
                      <a:pPr lvl="0" indent="0" marL="0" algn="l">
                        <a:buNone/>
                      </a:pPr>
                      <a:r>
                        <a:rPr/>
                        <a:t>테마파크 셔틀, 가성비 풀빌라</a:t>
                      </a:r>
                    </a:p>
                  </a:txBody>
                </a:tc>
                <a:tc>
                  <a:txBody>
                    <a:bodyPr/>
                    <a:lstStyle/>
                    <a:p>
                      <a:pPr lvl="0" indent="0" marL="0" algn="l">
                        <a:buNone/>
                      </a:pPr>
                      <a:r>
                        <a:rPr/>
                        <a:t>시내와 멀고 다소 투박함</a:t>
                      </a:r>
                    </a:p>
                  </a:txBody>
                </a:tc>
              </a:tr>
              <a:tr h="0">
                <a:tc>
                  <a:txBody>
                    <a:bodyPr/>
                    <a:lstStyle/>
                    <a:p>
                      <a:pPr lvl="0" indent="0" marL="0" algn="l">
                        <a:buNone/>
                      </a:pPr>
                      <a:r>
                        <a:rPr b="1"/>
                        <a:t>모벤픽</a:t>
                      </a:r>
                    </a:p>
                  </a:txBody>
                </a:tc>
                <a:tc>
                  <a:txBody>
                    <a:bodyPr/>
                    <a:lstStyle/>
                    <a:p>
                      <a:pPr lvl="0" indent="0" marL="0" algn="l">
                        <a:buNone/>
                      </a:pPr>
                      <a:r>
                        <a:rPr/>
                        <a:t>유럽풍 선호객</a:t>
                      </a:r>
                    </a:p>
                  </a:txBody>
                </a:tc>
                <a:tc>
                  <a:txBody>
                    <a:bodyPr/>
                    <a:lstStyle/>
                    <a:p>
                      <a:pPr lvl="0" indent="0" marL="0" algn="l">
                        <a:buNone/>
                      </a:pPr>
                      <a:r>
                        <a:rPr/>
                        <a:t>초콜릿 아워, 스파 시설 우수</a:t>
                      </a:r>
                    </a:p>
                  </a:txBody>
                </a:tc>
                <a:tc>
                  <a:txBody>
                    <a:bodyPr/>
                    <a:lstStyle/>
                    <a:p>
                      <a:pPr lvl="0" indent="0" marL="0" algn="l">
                        <a:buNone/>
                      </a:pPr>
                      <a:r>
                        <a:rPr/>
                        <a:t>기본 객실 크기가 다소 협소</a:t>
                      </a:r>
                    </a:p>
                  </a:txBody>
                </a:tc>
              </a:tr>
              <a:tr h="0">
                <a:tc>
                  <a:txBody>
                    <a:bodyPr/>
                    <a:lstStyle/>
                    <a:p>
                      <a:pPr lvl="0" indent="0" marL="0" algn="l">
                        <a:buNone/>
                      </a:pPr>
                      <a:r>
                        <a:rPr b="1"/>
                        <a:t>세일링 클럽</a:t>
                      </a:r>
                    </a:p>
                  </a:txBody>
                </a:tc>
                <a:tc>
                  <a:txBody>
                    <a:bodyPr/>
                    <a:lstStyle/>
                    <a:p>
                      <a:pPr lvl="0" indent="0" marL="0" algn="l">
                        <a:buNone/>
                      </a:pPr>
                      <a:r>
                        <a:rPr/>
                        <a:t>커플, 허니문</a:t>
                      </a:r>
                    </a:p>
                  </a:txBody>
                </a:tc>
                <a:tc>
                  <a:txBody>
                    <a:bodyPr/>
                    <a:lstStyle/>
                    <a:p>
                      <a:pPr lvl="0" indent="0" marL="0" algn="l">
                        <a:buNone/>
                      </a:pPr>
                      <a:r>
                        <a:rPr/>
                        <a:t>완벽한 인테리어, 프라이빗 풀</a:t>
                      </a:r>
                    </a:p>
                  </a:txBody>
                </a:tc>
                <a:tc>
                  <a:txBody>
                    <a:bodyPr/>
                    <a:lstStyle/>
                    <a:p>
                      <a:pPr lvl="0" indent="0" marL="0" algn="l">
                        <a:buNone/>
                      </a:pPr>
                      <a:r>
                        <a:rPr/>
                        <a:t>조식당 에어컨 부재 (더움)</a:t>
                      </a:r>
                    </a:p>
                  </a:txBody>
                </a:tc>
              </a:tr>
              <a:tr h="0">
                <a:tc>
                  <a:txBody>
                    <a:bodyPr/>
                    <a:lstStyle/>
                    <a:p>
                      <a:pPr lvl="0" indent="0" marL="0" algn="l">
                        <a:buNone/>
                      </a:pPr>
                      <a:r>
                        <a:rPr b="1"/>
                        <a:t>인터컨티넨탈</a:t>
                      </a:r>
                    </a:p>
                  </a:txBody>
                </a:tc>
                <a:tc>
                  <a:txBody>
                    <a:bodyPr/>
                    <a:lstStyle/>
                    <a:p>
                      <a:pPr lvl="0" indent="0" marL="0" algn="l">
                        <a:buNone/>
                      </a:pPr>
                      <a:r>
                        <a:rPr/>
                        <a:t>한국인 가족 여행</a:t>
                      </a:r>
                    </a:p>
                  </a:txBody>
                </a:tc>
                <a:tc>
                  <a:txBody>
                    <a:bodyPr/>
                    <a:lstStyle/>
                    <a:p>
                      <a:pPr lvl="0" indent="0" marL="0" algn="l">
                        <a:buNone/>
                      </a:pPr>
                      <a:r>
                        <a:rPr/>
                        <a:t>럭셔리 키즈 풀, 브랜드 인지도</a:t>
                      </a:r>
                    </a:p>
                  </a:txBody>
                </a:tc>
                <a:tc>
                  <a:txBody>
                    <a:bodyPr/>
                    <a:lstStyle/>
                    <a:p>
                      <a:pPr lvl="0" indent="0" marL="0" algn="l">
                        <a:buNone/>
                      </a:pPr>
                      <a:r>
                        <a:rPr/>
                        <a:t>조식당 혼잡, 시설 노후화</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푸꾸옥은 관광 명소보다 리조트 내에서의 휴양이 주가 되는 여행지이므로 동행인과 취향에 맞는 숙소 선택이 무엇보다 중요합니다. 가성비를 중시한다면 소나시 상점가 인근의 베스트웨스턴을, 압도적인 럭셔리를 원한다면 리젠트나 인터컨티넨탈을 고려해 볼 만합니다.</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19페이지: 해외여행 감염병 예방 및 안전 관리 (Table 10)</a:t>
            </a:r>
          </a:p>
        </p:txBody>
      </p:sp>
      <p:sp>
        <p:nvSpPr>
          <p:cNvPr id="4" name="Text Placeholder 3"/>
          <p:cNvSpPr>
            <a:spLocks noGrp="1"/>
          </p:cNvSpPr>
          <p:nvPr>
            <p:ph idx="2" sz="half" type="body"/>
          </p:nvPr>
        </p:nvSpPr>
        <p:spPr/>
        <p:txBody>
          <a:bodyPr/>
          <a:lstStyle/>
          <a:p>
            <a:pPr lvl="0"/>
            <a:r>
              <a:rPr b="1"/>
              <a:t>최근 수인성 식품 매개 감염병과 모기 매개 감염병의 해외 유입 사례가 전년 대비 5배 급증하고 있어 여행 전후 철저한 위생 수칙 준수가 강력히 요구됨.</a:t>
            </a:r>
          </a:p>
          <a:p>
            <a:pPr lvl="0"/>
            <a:r>
              <a:rPr b="1"/>
              <a:t>세균성이질과 콜레라는 주로 오염된 물과 식품을 통해 전파되므로 음식은 반드시 익혀 먹고 물은 끓여 마시며 식사 전 30초 이상 손 씻기를 생활화해야 함.</a:t>
            </a:r>
          </a:p>
          <a:p>
            <a:pPr lvl="0"/>
            <a:r>
              <a:rPr b="1"/>
              <a:t>홍역은 전염성이 매우 강한 호흡기 질환으로 출국 4~6주 전 예방백신(MMR) 2회 접종 여부를 확인하고 미접종 시 반드시 접종을 완료할 것을 권고함.</a:t>
            </a:r>
          </a:p>
          <a:p>
            <a:pPr lvl="0"/>
            <a:r>
              <a:rPr b="1"/>
              <a:t>입국 시 이상 증상이 느껴질 경우 건강상태질문서(Q-CODE)에 정확히 입력하고, 귀국 후 의심 증상 발생 시 1339 콜센터에 알리고 의료기관을 방문함.</a:t>
            </a:r>
          </a:p>
          <a:p>
            <a:pPr lvl="0"/>
            <a:r>
              <a:rPr b="1"/>
              <a:t>베트남은 세균성이질, 뎅기열, 치쿤구니야열 등 다양한 감염병의 주요 유입 국가 중 하나이므로 해당 지역 방문 시 특별한 주의와 대비가 필요함.</a:t>
            </a:r>
          </a:p>
          <a:p>
            <a:pPr lvl="0" indent="0" marL="0">
              <a:buNone/>
            </a:pPr>
            <a:r>
              <a:rPr b="1"/>
              <a:t>표 10: 주의해야 할 주요 해외 유입 감염병 정보</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질병명</a:t>
                      </a:r>
                    </a:p>
                  </a:txBody>
                  <a:tcPr/>
                </a:tc>
                <a:tc>
                  <a:txBody>
                    <a:bodyPr/>
                    <a:lstStyle/>
                    <a:p>
                      <a:pPr lvl="0" indent="0" marL="0" algn="l">
                        <a:buNone/>
                      </a:pPr>
                      <a:r>
                        <a:rPr/>
                        <a:t>전파 경로</a:t>
                      </a:r>
                    </a:p>
                  </a:txBody>
                  <a:tcPr/>
                </a:tc>
                <a:tc>
                  <a:txBody>
                    <a:bodyPr/>
                    <a:lstStyle/>
                    <a:p>
                      <a:pPr lvl="0" indent="0" marL="0" algn="l">
                        <a:buNone/>
                      </a:pPr>
                      <a:r>
                        <a:rPr/>
                        <a:t>주요 증상</a:t>
                      </a:r>
                    </a:p>
                  </a:txBody>
                  <a:tcPr/>
                </a:tc>
                <a:tc>
                  <a:txBody>
                    <a:bodyPr/>
                    <a:lstStyle/>
                    <a:p>
                      <a:pPr lvl="0" indent="0" marL="0" algn="l">
                        <a:buNone/>
                      </a:pPr>
                      <a:r>
                        <a:rPr/>
                        <a:t>예방 핵심 수칙</a:t>
                      </a:r>
                    </a:p>
                  </a:txBody>
                  <a:tcPr/>
                </a:tc>
              </a:tr>
              <a:tr h="0">
                <a:tc>
                  <a:txBody>
                    <a:bodyPr/>
                    <a:lstStyle/>
                    <a:p>
                      <a:pPr lvl="0" indent="0" marL="0" algn="l">
                        <a:buNone/>
                      </a:pPr>
                      <a:r>
                        <a:rPr b="1"/>
                        <a:t>세균성이질</a:t>
                      </a:r>
                    </a:p>
                  </a:txBody>
                </a:tc>
                <a:tc>
                  <a:txBody>
                    <a:bodyPr/>
                    <a:lstStyle/>
                    <a:p>
                      <a:pPr lvl="0" indent="0" marL="0" algn="l">
                        <a:buNone/>
                      </a:pPr>
                      <a:r>
                        <a:rPr/>
                        <a:t>오염된 물, 식품</a:t>
                      </a:r>
                    </a:p>
                  </a:txBody>
                </a:tc>
                <a:tc>
                  <a:txBody>
                    <a:bodyPr/>
                    <a:lstStyle/>
                    <a:p>
                      <a:pPr lvl="0" indent="0" marL="0" algn="l">
                        <a:buNone/>
                      </a:pPr>
                      <a:r>
                        <a:rPr/>
                        <a:t>고열, 구토, 복통, 설사</a:t>
                      </a:r>
                    </a:p>
                  </a:txBody>
                </a:tc>
                <a:tc>
                  <a:txBody>
                    <a:bodyPr/>
                    <a:lstStyle/>
                    <a:p>
                      <a:pPr lvl="0" indent="0" marL="0" algn="l">
                        <a:buNone/>
                      </a:pPr>
                      <a:r>
                        <a:rPr/>
                        <a:t>익혀 먹기, 손 씻기 준수</a:t>
                      </a:r>
                    </a:p>
                  </a:txBody>
                </a:tc>
              </a:tr>
              <a:tr h="0">
                <a:tc>
                  <a:txBody>
                    <a:bodyPr/>
                    <a:lstStyle/>
                    <a:p>
                      <a:pPr lvl="0" indent="0" marL="0" algn="l">
                        <a:buNone/>
                      </a:pPr>
                      <a:r>
                        <a:rPr b="1"/>
                        <a:t>콜레라</a:t>
                      </a:r>
                    </a:p>
                  </a:txBody>
                </a:tc>
                <a:tc>
                  <a:txBody>
                    <a:bodyPr/>
                    <a:lstStyle/>
                    <a:p>
                      <a:pPr lvl="0" indent="0" marL="0" algn="l">
                        <a:buNone/>
                      </a:pPr>
                      <a:r>
                        <a:rPr/>
                        <a:t>해산물, 식수</a:t>
                      </a:r>
                    </a:p>
                  </a:txBody>
                </a:tc>
                <a:tc>
                  <a:txBody>
                    <a:bodyPr/>
                    <a:lstStyle/>
                    <a:p>
                      <a:pPr lvl="0" indent="0" marL="0" algn="l">
                        <a:buNone/>
                      </a:pPr>
                      <a:r>
                        <a:rPr/>
                        <a:t>수양성 설사, 구토, 탈수</a:t>
                      </a:r>
                    </a:p>
                  </a:txBody>
                </a:tc>
                <a:tc>
                  <a:txBody>
                    <a:bodyPr/>
                    <a:lstStyle/>
                    <a:p>
                      <a:pPr lvl="0" indent="0" marL="0" algn="l">
                        <a:buNone/>
                      </a:pPr>
                      <a:r>
                        <a:rPr/>
                        <a:t>위생 상태 확인 및 백신</a:t>
                      </a:r>
                    </a:p>
                  </a:txBody>
                </a:tc>
              </a:tr>
              <a:tr h="0">
                <a:tc>
                  <a:txBody>
                    <a:bodyPr/>
                    <a:lstStyle/>
                    <a:p>
                      <a:pPr lvl="0" indent="0" marL="0" algn="l">
                        <a:buNone/>
                      </a:pPr>
                      <a:r>
                        <a:rPr b="1"/>
                        <a:t>홍역</a:t>
                      </a:r>
                    </a:p>
                  </a:txBody>
                </a:tc>
                <a:tc>
                  <a:txBody>
                    <a:bodyPr/>
                    <a:lstStyle/>
                    <a:p>
                      <a:pPr lvl="0" indent="0" marL="0" algn="l">
                        <a:buNone/>
                      </a:pPr>
                      <a:r>
                        <a:rPr/>
                        <a:t>기침, 재채기(공기)</a:t>
                      </a:r>
                    </a:p>
                  </a:txBody>
                </a:tc>
                <a:tc>
                  <a:txBody>
                    <a:bodyPr/>
                    <a:lstStyle/>
                    <a:p>
                      <a:pPr lvl="0" indent="0" marL="0" algn="l">
                        <a:buNone/>
                      </a:pPr>
                      <a:r>
                        <a:rPr/>
                        <a:t>발열, 전신 발진, 결막염</a:t>
                      </a:r>
                    </a:p>
                  </a:txBody>
                </a:tc>
                <a:tc>
                  <a:txBody>
                    <a:bodyPr/>
                    <a:lstStyle/>
                    <a:p>
                      <a:pPr lvl="0" indent="0" marL="0" algn="l">
                        <a:buNone/>
                      </a:pPr>
                      <a:r>
                        <a:rPr/>
                        <a:t>MMR 백신 2회 접종 필수</a:t>
                      </a:r>
                    </a:p>
                  </a:txBody>
                </a:tc>
              </a:tr>
              <a:tr h="0">
                <a:tc>
                  <a:txBody>
                    <a:bodyPr/>
                    <a:lstStyle/>
                    <a:p>
                      <a:pPr lvl="0" indent="0" marL="0" algn="l">
                        <a:buNone/>
                      </a:pPr>
                      <a:r>
                        <a:rPr b="1"/>
                        <a:t>뎅기열</a:t>
                      </a:r>
                    </a:p>
                  </a:txBody>
                </a:tc>
                <a:tc>
                  <a:txBody>
                    <a:bodyPr/>
                    <a:lstStyle/>
                    <a:p>
                      <a:pPr lvl="0" indent="0" marL="0" algn="l">
                        <a:buNone/>
                      </a:pPr>
                      <a:r>
                        <a:rPr/>
                        <a:t>숲모기류 물림</a:t>
                      </a:r>
                    </a:p>
                  </a:txBody>
                </a:tc>
                <a:tc>
                  <a:txBody>
                    <a:bodyPr/>
                    <a:lstStyle/>
                    <a:p>
                      <a:pPr lvl="0" indent="0" marL="0" algn="l">
                        <a:buNone/>
                      </a:pPr>
                      <a:r>
                        <a:rPr/>
                        <a:t>두통, 근육통, 관절통</a:t>
                      </a:r>
                    </a:p>
                  </a:txBody>
                </a:tc>
                <a:tc>
                  <a:txBody>
                    <a:bodyPr/>
                    <a:lstStyle/>
                    <a:p>
                      <a:pPr lvl="0" indent="0" marL="0" algn="l">
                        <a:buNone/>
                      </a:pPr>
                      <a:r>
                        <a:rPr/>
                        <a:t>모기 기피제, 긴소매 착용</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감염병 예방의 가장 기본은 개인위생 관리입니다. 특히 동남아시아 지역 입국자 중 뎅기열 의심 증상이 있는 경우 공항 검역소에서 무료로 실시하는 신속 진단 검사를 적극 활용하여 조기 진단과 치료를 받는 것이 중요합니다.</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20페이지: 모기 매개 감염병 예방 및 상세 대응 전략</a:t>
            </a:r>
          </a:p>
        </p:txBody>
      </p:sp>
      <p:sp>
        <p:nvSpPr>
          <p:cNvPr id="3" name="Content Placeholder 2"/>
          <p:cNvSpPr>
            <a:spLocks noGrp="1"/>
          </p:cNvSpPr>
          <p:nvPr>
            <p:ph idx="1"/>
          </p:nvPr>
        </p:nvSpPr>
        <p:spPr/>
        <p:txBody>
          <a:bodyPr/>
          <a:lstStyle/>
          <a:p>
            <a:pPr lvl="0"/>
            <a:r>
              <a:rPr b="1"/>
              <a:t>기후 변화로 인해 모기 서식지가 확대되면서 뎅기열, 말라리아 등 모기에 의해 전파되는 감염병이 전 세계적으로 증가하는 추세이므로 각별히 조심해야 함.</a:t>
            </a:r>
          </a:p>
          <a:p>
            <a:pPr lvl="0"/>
            <a:r>
              <a:rPr b="1"/>
              <a:t>모기에 물리지 않는 것이 가장 완벽한 예방법이므로 야외 활동 시에는 밝은색 긴 소매와 긴 바지를 착용하여 피부 노출을 최소화하고 기피제를 사용함.</a:t>
            </a:r>
          </a:p>
          <a:p>
            <a:pPr lvl="0"/>
            <a:r>
              <a:rPr b="1"/>
              <a:t>지카바이러스 감염증은 모기 외에도 성접촉이나 모자간 수직 감염이 가능하므로 여행 후 최소 3개월간 임신 연기 및 안전한 성접촉을 유지할 것을 당부함.</a:t>
            </a:r>
          </a:p>
          <a:p>
            <a:pPr lvl="0"/>
            <a:r>
              <a:rPr b="1"/>
              <a:t>말라리아 위험 지역 방문 전에는 반드시 의료기관을 방문하여 해당 지역의 약제 내성을 고려한 예방약을 처방받아 정해진 복용 수칙에 따라 꾸준히 복용함.</a:t>
            </a:r>
          </a:p>
          <a:p>
            <a:pPr lvl="0"/>
            <a:r>
              <a:rPr b="1"/>
              <a:t>모기 매개 감염병 환자나 병력이 있는 경우 완치 후에도 일정 기간(뎅기열 6개월, 말라리아 3년 등) 동안은 헌혈을 금지하여 혈액 안전을 지켜야 함.</a:t>
            </a:r>
          </a:p>
          <a:p>
            <a:pPr lvl="0" indent="0" marL="0">
              <a:buNone/>
            </a:pPr>
            <a:r>
              <a:rPr b="1"/>
              <a:t>모기 매개 감염병 예방 3단계 전략</a:t>
            </a:r>
            <a:r>
              <a:rPr/>
              <a:t> 1. </a:t>
            </a:r>
            <a:r>
              <a:rPr b="1"/>
              <a:t>여행 전:</a:t>
            </a:r>
            <a:r>
              <a:rPr/>
              <a:t> 질병관리청 누리집에서 방문 국가의 감염병 발생 현황을 확인하고 필요한 예방약(말라리아 등)과 기피제, 모기장을 철저히 준비합니다. 2. </a:t>
            </a:r>
            <a:r>
              <a:rPr b="1"/>
              <a:t>여행 중:</a:t>
            </a:r>
            <a:r>
              <a:rPr/>
              <a:t> 모기가 활발히 활동하는 해질녘부터 새벽 시간까지 야외 활동을 자제하고, 향이 진한 화장품이나 향수 사용을 피해 모기의 유인을 차단합니다. 3. </a:t>
            </a:r>
            <a:r>
              <a:rPr b="1"/>
              <a:t>여행 후:</a:t>
            </a:r>
            <a:r>
              <a:rPr/>
              <a:t> 귀국 후 2주 이내에 발열, 발진, 관절통 등 의심 증상이 나타나면 즉시 의료기관을 방문하고 반드시 해외 여행력을 의료진에게 고지합니다.</a:t>
            </a:r>
          </a:p>
          <a:p>
            <a:pPr lvl="0" indent="0" marL="0">
              <a:buNone/>
            </a:pPr>
            <a:r>
              <a:rPr/>
              <a:t>모기 매개 질환은 적절한 시기에 치료받으면 대부분 완치가 가능하지만, 방치할 경우 심각한 합병증을 유발할 수 있으므로 빠른 대처가 생명입니다. 안전한 여행 환경 조성과 본인의 건강을 위해 질병관리청의 예방 수칙을 엄격히 준수할 것을 권고합니다.</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2025-12-24T06:15:54Z</dcterms:created>
  <dcterms:modified xsi:type="dcterms:W3CDTF">2025-12-24T06:15:54Z</dcterms:modified>
</cp:coreProperties>
</file>

<file path=docProps/custom.xml><?xml version="1.0" encoding="utf-8"?>
<Properties xmlns="http://schemas.openxmlformats.org/officeDocument/2006/custom-properties" xmlns:vt="http://schemas.openxmlformats.org/officeDocument/2006/docPropsVTypes"/>
</file>